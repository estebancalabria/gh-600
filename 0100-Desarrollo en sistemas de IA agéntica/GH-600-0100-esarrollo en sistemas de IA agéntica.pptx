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5B615-4E15-248D-3C35-703FEB550A19}" v="25" dt="2026-10-27T22:32:35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7FBE0-9867-40E2-8F58-84B4ECA47E82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E81CD-2C9F-4D33-805E-F9E95934A9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Introducción al módulo. SDLC significa ciclo de vida del desarrollo de software. La ejecución puede delegarse, pero la responsabilidad permanece en las personas.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cloud agent de Copilot ilustra esta evolución: explora un repositorio, propone un plan, realiza cambios en una branch y abre un Pull Request para revisión.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comparación corresponde al modelo conceptual del módulo. Un agente interpreta la tarea y mantiene el objetivo durante múltiples pasos, mientras crea o modifica artefactos persistentes.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commits muestran qué cambió. El PR explica qué se propone y por qué. Los workflows y checks aportan evidencia. Review comments y approvals registran el juicio humano. El agente no reemplaza el workflow.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didáctico proporcionado por el usuario. No representa un incidente real ni una branch existente.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evaluación alimenta una nueva planificación cuando el resultado aún no es aceptable. El ciclo no es una secuencia que ocurre una sola vez.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planes deben convertirse en artefactos estructurados y revisables, en lugar de permanecer ocultos. El agente interpreta el objetivo y determina los pasos para alcanzarlo.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agente puede crear y enviar commits, abrir o actualizar un PR y realizar nuevos cambios ante una revisión. La delimitación depende de los permisos y mecanismos configurados.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resultados SARIF son señales que pueden alimentar el análisis. Si los checks fallan, permanecen riesgos o no se cumplen los requisitos, el trabajo todavía no terminó.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Caso ilustrativo. Un sistema de calidad hace visibles el plan, la ejecución limitada a workflows controlados y la evaluación basada en señales objetivas.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 captura intención, registra acciones, ejecuta validaciones y puede aplicar políticas. Los artefactos permiten desarrollar e inspeccionar posteriormente la contribución del agente.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required checks y rulesets deben estar configurados para actuar como mecanismos obligatorios. CODEOWNERS enruta la revisión. Para exigirla debe combinarse con las reglas correspondientes. Environments puede proteger deployments y acceso a secrets según configuración.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Aplicar least privilege a GITHUB_TOKEN y a las credenciales de herramientas. Los checks importan tanto como los permisos con los que se ejecutan los workflows.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comportamiento depende del tipo de workflow, configuración y permisos. CODEOWNERS, combinado con required reviews, ayuda a supervisar las modificaciones de alto impacto.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de lo que GitHub puede aplicar cuando los controles están configurados. El trabajo del agente puede supervisarse, validarse y gobernarse dentro del mismo entorno.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capacidad de ejecutar trabajo no convierte al agente en responsable del resultado. El modelo de PR mantiene una decisión explícita de aceptación.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anti-patterns del módulo son planless execution, over-permissioned agents, hidden reasoning y blind trust in automation. Registrar planes y decisiones no implica pedir razonamiento interno del modelo. Un build exitoso solo valida lo que los checks cubren.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trazabilidad ayuda al diagnóstico además de compliance. Los organization audit logs dependen de la configuración disponible. No alcanza con observar el diff final.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del módulo: CI pasa tras un security fix y luego aparece una regresión. La trazabilidad debe permitir establecer si el plan era visible, participaron los reviewers adecuados y los checks correspondían al riesgo.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agente se trata como un contributor y su trabajo se evalúa como una contribución. El origen del cambio, por sí solo, no determina su calidad.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Checklist del módulo para aplicar durante la revisión. La presencia de un archivo CODEOWNERS no garantiza por sí sola la aprobación requerida. Revisar la configuración efectiva.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proceso queda dentro de mecanismos de registro, control, revisión y trazabilidad de GitHub. Una buena contribución es understandable, bounded, reviewable, policy-compliant y reconstructable. Son principios de ingeniería saludable, también aplicables a agentes.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Ideas clave: el agente mantiene objetivos y actúa, el ciclo Plan–Act–Evaluate itera, las señales objetivas sustentan la evaluación, GitHub registra y controla, el mínimo privilegio limita capacidades, y las personas retienen la responsabilidad. El Contributor Model evita tanto la sospecha como la confianza automáticas.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Módulos relacionados proporcionados por el usuario:</a:t>
            </a:r>
          </a:p>
          <a:p>
            <a:r>
              <a:t>https://learn.microsoft.com/en-us/training/modules/design-agent-architecture-integration/</a:t>
            </a:r>
          </a:p>
          <a:p>
            <a:r>
              <a:t>https://learn.microsoft.com/en-us/training/modules/agent-tooling-mcp-execution-environments/</a:t>
            </a:r>
          </a:p>
          <a:p>
            <a:r>
              <a:t>Fuente: contenido del módulo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6858000" cy="2762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Desarrollo en</a:t>
            </a:r>
          </a:p>
          <a:p>
            <a:pPr>
              <a:defRPr sz="48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sistemas de IA</a:t>
            </a:r>
          </a:p>
          <a:p>
            <a:pPr>
              <a:defRPr sz="48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agéntica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Desarrollo de software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6096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Participación en el SDLC, controles de GitHub y responsabilidad humana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0450" y="1714500"/>
            <a:ext cx="438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La IA participa en el desarrollo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La evolución amplía lo que podemos delegar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5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55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Sugerir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3286125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Código, explicaciones y recomendaciones.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2762250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5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55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3762375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Actuar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4476750"/>
            <a:ext cx="3286125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Explorar el repositorio, planificar cambios y abrir un PR.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5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55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3762375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Supervisar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4476750"/>
            <a:ext cx="3286125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desarrollador guía, revisa evidencias y valida resultados.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Asistente y agente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Asistente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Responde a una solicitud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Sugiere código y explica resultados.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El usuario elige y ejecuta el siguiente paso.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La respuesta devuelve el control al usuario.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17430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24479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Mantiene un objetivo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2575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Decide pasos intermedios y utiliza herramientas.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9814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Actúa sobre artefactos persistentes del repositorio.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47053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Itera con feedback de checks y reviews.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Un asistente propone. Un agente puede proponer y actuar dentro del workflow.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agente entra al workflow de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1838325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Tarea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26765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Objetivo y criterios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1838325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1838325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26765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Cambios y commits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134350" y="1838325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1838325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Pull 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26765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Propuesta y contexto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Checks y reviews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449580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Evidencia y revisión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3657600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365760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Validación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449580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Decisión según políticas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134350" y="3657600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365760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Merge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449580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Cambio aceptado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Branches, commits, PR y reviews hacen visible el trabajo del agente.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Una dependencia vulnerable: dos enfoques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Con un asistente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usuario consulta cómo actualizar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Recibe comandos recomendados.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Obtiene un checklist de riesgos.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Crea la branch, modifica archivos y abre el PR.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17430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Con un agente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24479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objetivo inicia una contribución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2575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Crea una branch y actualiza la dependencia.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9814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Modifica el lockfile y abre un PR con su plan.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47053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Espera checks y feedback, y ajusta el cambio.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Ejemplo ilustrativo: agent/bump-dep-2026-04-03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ciclo Plan, Act, Evaluate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9244" y="1619250"/>
            <a:ext cx="4563762" cy="457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5715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Define el enfoque y los criterios de éxito.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5715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Ejecuta cambios dentro del alcance permitido.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Evaluate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5715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Contrasta el resultado con señales del sistema.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5810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El ciclo continúa hasta cumplir los criterios o escalar a una persona.</a:t>
            </a: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Plan: una intención inspeccionable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Qué cambiará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Paquete, archivos y límites del trabajo.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Success criteria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Cómo sabremos que funcionó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Resultado esperado y evidencia necesaria.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Fallback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Qué ocurre si falla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Rollback o ruta de escalamiento.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El plan queda en un Issue, la descripción del PR o un checklist revisable.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Act: ejecución dentro de límites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3333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5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75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Repositorio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32861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Contexto y permisos definidos.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1981200"/>
            <a:ext cx="3333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5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75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333375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4143375"/>
            <a:ext cx="32861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Cambios de archivos y commits delimitados.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1981200"/>
            <a:ext cx="3333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5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75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8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Pull 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8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4143375"/>
            <a:ext cx="32861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Propuesta revisable y respuesta al feedback.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8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La ejecución acotada evita cambios directos y no controlados en la branch por defecto.</a:t>
            </a:r>
          </a:p>
        </p:txBody>
      </p:sp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9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Evaluate: evidencia del sistema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9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9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Checks técnicos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9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¿El cambio funciona?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9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Builds, tests, linting, workflow runs y status checks.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9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Code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9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¿El cambio es apropiado?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9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Requested changes, review comments y approvals.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9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Seguridad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9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¿Persisten riesgos?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9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Code scanning, SARIF, secret scanning, dependency alerts y push protection.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9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La confianza del agente en su respuesta no sustituye la evaluación.</a:t>
            </a:r>
          </a:p>
        </p:txBody>
      </p:sp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A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Caso completo: actualizar una dependencia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A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A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A-0004-4000-8000-000000000000}"/>
              </a:ext>
            </a:extLst>
          </p:cNvPr>
          <p:cNvSpPr>
            <a:spLocks noGrp="1"/>
          </p:cNvSpPr>
          <p:nvPr/>
        </p:nvSpPr>
        <p:spPr>
          <a:xfrm>
            <a:off x="3286125" y="1828800"/>
            <a:ext cx="7953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Identifica el paquete, los archivos y el resultado esperado.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A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A-0006-4000-8000-000000000000}"/>
              </a:ext>
            </a:extLst>
          </p:cNvPr>
          <p:cNvSpPr>
            <a:spLocks noGrp="1"/>
          </p:cNvSpPr>
          <p:nvPr/>
        </p:nvSpPr>
        <p:spPr>
          <a:xfrm>
            <a:off x="3286125" y="3009900"/>
            <a:ext cx="7953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Crea la branch, actualiza dependencia y lockfile, genera commits y abre el PR.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A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Evaluate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A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286125" y="4191000"/>
            <a:ext cx="7953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CI, tests, seguridad y revisión humana comprueban el resultado.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A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Si falla un workflow o persiste la vulnerabilidad: revisar el plan, modificar y reevaluar, o escalar.</a:t>
            </a:r>
          </a:p>
        </p:txBody>
      </p:sp>
    </p:spTree>
    <p:extLst>
      <p:ext uri="{BB962C8B-B14F-4D97-AF65-F5344CB8AC3E}">
        <p14:creationId xmlns:p14="http://schemas.microsoft.com/office/powerpoint/2010/main" val="1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B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GitHub registra el trabajo y aplica controles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B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B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System of Record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B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Conserva lo que ocurrió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B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Repositories, branches, commits y Pull Requests.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B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Issues, Discussions y review history.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B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Workflow runs y artifacts.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B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174307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Control Plane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B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24479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Condiciona lo que puede ocurrir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B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2575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Reglas para proponer y aceptar cambios.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B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9814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Reviews y checks obligatorios.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B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47053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Límites para ejecuciones, secrets y deployments.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B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La efectividad de los controles depende de su configuración y de los permisos.</a:t>
            </a:r>
          </a:p>
        </p:txBody>
      </p:sp>
    </p:spTree>
    <p:extLst>
      <p:ext uri="{BB962C8B-B14F-4D97-AF65-F5344CB8AC3E}">
        <p14:creationId xmlns:p14="http://schemas.microsoft.com/office/powerpoint/2010/main" val="11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C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Controles de GitHub para contribuciones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C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609600" y="1676400"/>
          <a:ext cx="10972800" cy="373761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1F4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>
                    <a:solidFill>
                      <a:srgbClr val="216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1F4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controla</a:t>
                      </a:r>
                    </a:p>
                  </a:txBody>
                  <a:tcPr>
                    <a:solidFill>
                      <a:srgbClr val="216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1F4E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Importancia para agentes</a:t>
                      </a:r>
                    </a:p>
                  </a:txBody>
                  <a:tcPr>
                    <a:solidFill>
                      <a:srgbClr val="216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Pull Requests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Propuesta antes del merge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y discutir el cambio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Reviews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Revisión antes del merge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Supervisión humana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Status Checks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 de CI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Evaluación como política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CODEOWNERS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Reviews según archivos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Especialistas en áreas sensibles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Rulesets / Branch Protection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Políticas sobre branches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Bloqueo de merges inseguros</a:t>
                      </a:r>
                    </a:p>
                  </a:txBody>
                  <a:tcPr>
                    <a:solidFill>
                      <a:srgbClr val="E1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Environments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Deployments y secrets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2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Aprobaciones para accesos sensibles</a:t>
                      </a:r>
                    </a:p>
                  </a:txBody>
                  <a:tcPr>
                    <a:solidFill>
                      <a:srgbClr val="F1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C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Estos mecanismos solo son obligatorios cuando la configuración y los permisos lo establecen.</a:t>
            </a:r>
          </a:p>
        </p:txBody>
      </p:sp>
    </p:spTree>
    <p:extLst>
      <p:ext uri="{BB962C8B-B14F-4D97-AF65-F5344CB8AC3E}">
        <p14:creationId xmlns:p14="http://schemas.microsoft.com/office/powerpoint/2010/main" val="12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D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GitHub Actions y mínimo privilegio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D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D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49530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Permisos</a:t>
            </a:r>
          </a:p>
          <a:p>
            <a:pPr>
              <a:defRPr sz="42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conservadores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D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1790700"/>
            <a:ext cx="4905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Por defecto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D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4905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Workflow tokens con permisos read-only cuando sea posible.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D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009900"/>
            <a:ext cx="4905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Por job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D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3467100"/>
            <a:ext cx="4905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Permisos superiores solo donde resultan necesarios.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D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229100"/>
            <a:ext cx="4905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Para lo sensible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D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0" y="4686300"/>
            <a:ext cx="4905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Environments y approvals para secrets y deployments.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D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El alcance real del agente también depende de sus tokens y credenciales.</a:t>
            </a:r>
          </a:p>
        </p:txBody>
      </p:sp>
    </p:spTree>
    <p:extLst>
      <p:ext uri="{BB962C8B-B14F-4D97-AF65-F5344CB8AC3E}">
        <p14:creationId xmlns:p14="http://schemas.microsoft.com/office/powerpoint/2010/main" val="13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E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Tres puntos de intervención humana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E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E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Workflows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E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Aprobar la ejecución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E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En determinados PR, una persona utiliza “Approve and run workflows”.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E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Environments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E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Autorizar la continuación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E-0008-4000-8000-000000000000}"/>
              </a:ext>
            </a:extLst>
          </p:cNvPr>
          <p:cNvSpPr>
            <a:spLocks noGrp="1"/>
          </p:cNvSpPr>
          <p:nvPr/>
        </p:nvSpPr>
        <p:spPr>
          <a:xfrm>
            <a:off x="432435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Un job espera la aprobación de reviewers antes de acceder a recursos protegidos.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E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1943100"/>
            <a:ext cx="338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CODEOWNERS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E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2743200"/>
            <a:ext cx="3381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Involucrar responsables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E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39100" y="3667125"/>
            <a:ext cx="33813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Rutas como .github/workflows/ o infra/ solicitan revisión especializada.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E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Las políticas de revisión obligatoria convierten estos puntos en controles exigibles.</a:t>
            </a:r>
          </a:p>
        </p:txBody>
      </p:sp>
    </p:spTree>
    <p:extLst>
      <p:ext uri="{BB962C8B-B14F-4D97-AF65-F5344CB8AC3E}">
        <p14:creationId xmlns:p14="http://schemas.microsoft.com/office/powerpoint/2010/main" val="14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F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Control de un PR con un security fix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F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25" y="1809750"/>
            <a:ext cx="4095750" cy="4095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F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F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1685925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PR visible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F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2066925"/>
            <a:ext cx="5381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Cambio, motivo y plan.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F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F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2524125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Owners adecuados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F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2905125"/>
            <a:ext cx="5381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Revisión de áreas sensibles.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F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F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3362325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F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3743325"/>
            <a:ext cx="5381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Workflows y required checks.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F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F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4200525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Políticas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F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4581525"/>
            <a:ext cx="5381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Merge bloqueado hasta cumplirlas.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F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F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5038725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Acceso protegido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F-0011-4000-8000-000000000000}"/>
              </a:ext>
            </a:extLst>
          </p:cNvPr>
          <p:cNvSpPr>
            <a:spLocks noGrp="1"/>
          </p:cNvSpPr>
          <p:nvPr/>
        </p:nvSpPr>
        <p:spPr>
          <a:xfrm>
            <a:off x="1381125" y="5419725"/>
            <a:ext cx="5381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Secrets del Environment sujetos a aprobación.</a:t>
            </a:r>
          </a:p>
        </p:txBody>
      </p:sp>
    </p:spTree>
    <p:extLst>
      <p:ext uri="{BB962C8B-B14F-4D97-AF65-F5344CB8AC3E}">
        <p14:creationId xmlns:p14="http://schemas.microsoft.com/office/powerpoint/2010/main" val="15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0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La responsabilidad sigue siendo humana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0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0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477500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La ejecución</a:t>
            </a:r>
          </a:p>
          <a:p>
            <a:pPr>
              <a:defRPr sz="525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puede delegarse.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0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38175" y="36385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Las personas y equipos responden por el resultado.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0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Definen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0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La tarea y los criterios.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0-0007-4000-8000-000000000000}"/>
              </a:ext>
            </a:extLst>
          </p:cNvPr>
          <p:cNvSpPr>
            <a:spLocks noGrp="1"/>
          </p:cNvSpPr>
          <p:nvPr/>
        </p:nvSpPr>
        <p:spPr>
          <a:xfrm>
            <a:off x="3419475" y="48672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Configuran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0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419475" y="5381625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Permisos y controles.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0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48672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Revisan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0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5381625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Resultados y evidencias.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0-000B-4000-8000-000000000000}"/>
              </a:ext>
            </a:extLst>
          </p:cNvPr>
          <p:cNvSpPr>
            <a:spLocks noGrp="1"/>
          </p:cNvSpPr>
          <p:nvPr/>
        </p:nvSpPr>
        <p:spPr>
          <a:xfrm>
            <a:off x="9039225" y="48672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Aprueban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0-000C-4000-8000-000000000000}"/>
              </a:ext>
            </a:extLst>
          </p:cNvPr>
          <p:cNvSpPr>
            <a:spLocks noGrp="1"/>
          </p:cNvSpPr>
          <p:nvPr/>
        </p:nvSpPr>
        <p:spPr>
          <a:xfrm>
            <a:off x="9039225" y="5381625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Los cambios que se aceptan.</a:t>
            </a:r>
          </a:p>
        </p:txBody>
      </p:sp>
    </p:spTree>
    <p:extLst>
      <p:ext uri="{BB962C8B-B14F-4D97-AF65-F5344CB8AC3E}">
        <p14:creationId xmlns:p14="http://schemas.microsoft.com/office/powerpoint/2010/main" val="16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Riesgos y mitigaciones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238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Ejecución sin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086225" y="1666875"/>
            <a:ext cx="323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PR con diff, sin explicar el alcance.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7867650" y="1666875"/>
            <a:ext cx="3657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Plantilla con plan y revisión antes del merge.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3238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Permisos excesivos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086225" y="2695575"/>
            <a:ext cx="323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Agente o credenciales con privilegios innecesarios.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867650" y="2695575"/>
            <a:ext cx="3657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Least privilege, Environments y restricciones de ejecución.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3238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Contexto oculto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086225" y="3724275"/>
            <a:ext cx="323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Solo aparece el resultado final.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1-000B-4000-8000-000000000000}"/>
              </a:ext>
            </a:extLst>
          </p:cNvPr>
          <p:cNvSpPr>
            <a:spLocks noGrp="1"/>
          </p:cNvSpPr>
          <p:nvPr/>
        </p:nvSpPr>
        <p:spPr>
          <a:xfrm>
            <a:off x="7867650" y="3724275"/>
            <a:ext cx="3657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Registrar plan, supuestos, decisiones y workflow runs.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1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3238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Confianza ciega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086225" y="4752975"/>
            <a:ext cx="3238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Aceptar el cambio porque CI pasó.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1-000E-4000-8000-000000000000}"/>
              </a:ext>
            </a:extLst>
          </p:cNvPr>
          <p:cNvSpPr>
            <a:spLocks noGrp="1"/>
          </p:cNvSpPr>
          <p:nvPr/>
        </p:nvSpPr>
        <p:spPr>
          <a:xfrm>
            <a:off x="7867650" y="4752975"/>
            <a:ext cx="3657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Combinar checks con owners, reviews y aprobaciones según riesgo.</a:t>
            </a:r>
          </a:p>
        </p:txBody>
      </p:sp>
    </p:spTree>
    <p:extLst>
      <p:ext uri="{BB962C8B-B14F-4D97-AF65-F5344CB8AC3E}">
        <p14:creationId xmlns:p14="http://schemas.microsoft.com/office/powerpoint/2010/main" val="17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Trazabilidad para reconstruir lo sucedido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¿Qué cambió?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¿Por qué cambió?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¿Quién lo aprobó?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¿Qué evidencia existía?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¿Qué ocurrió después?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19050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Contribución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2371725"/>
            <a:ext cx="4191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PR, commits, comentarios y approvals.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Ejecución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3724275"/>
            <a:ext cx="4191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Workflow runs, logs, test reports y artifacts.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Seguridad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5076825"/>
            <a:ext cx="4191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Alertas, eventos de push protection y audit logs disponibles.</a:t>
            </a:r>
          </a:p>
        </p:txBody>
      </p:sp>
    </p:spTree>
    <p:extLst>
      <p:ext uri="{BB962C8B-B14F-4D97-AF65-F5344CB8AC3E}">
        <p14:creationId xmlns:p14="http://schemas.microsoft.com/office/powerpoint/2010/main" val="180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000001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Audit trail mínimo de una contribución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1838325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Goal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26765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Objetivo en Issue o PR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1838325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1838325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26765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Enfoque inspeccionable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134350" y="1838325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1838325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Changeset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26765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Branch y commits acotados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524000" y="449580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Runs y artifacts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371975" y="3657600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365760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Human judgment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5286375" y="449580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Review y aprobación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134350" y="3657600"/>
            <a:ext cx="828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365760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Outcome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9048750" y="449580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Merge, revert o escalamiento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Ante una regresión, el registro debe permitir revisar alcance, owners y evidencia.</a:t>
            </a:r>
          </a:p>
        </p:txBody>
      </p:sp>
    </p:spTree>
    <p:extLst>
      <p:ext uri="{BB962C8B-B14F-4D97-AF65-F5344CB8AC3E}">
        <p14:creationId xmlns:p14="http://schemas.microsoft.com/office/powerpoint/2010/main" val="190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Contributor Model: evaluar la contribución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763250" cy="1438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El Pull Request</a:t>
            </a:r>
          </a:p>
          <a:p>
            <a:pPr>
              <a:defRPr sz="397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es la unidad de revisión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Sospecha excesiva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Rechazar el cambio solo porque lo escribió una IA.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3581400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Confianza excesiva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324600" y="4257675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Aceptarlo solo porque lo produjo una automatización.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Mismos estándares: problema resuelto, scope apropiado, checks, owners, arquitectura y políticas.</a:t>
            </a:r>
          </a:p>
        </p:txBody>
      </p:sp>
    </p:spTree>
    <p:extLst>
      <p:ext uri="{BB962C8B-B14F-4D97-AF65-F5344CB8AC3E}">
        <p14:creationId xmlns:p14="http://schemas.microsoft.com/office/powerpoint/2010/main" val="2000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1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Checklist para revisar un PR de un agente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428750" y="1704975"/>
            <a:ext cx="2238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Intent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1704975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¿Objetivo claro y plan visible?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428750" y="2390775"/>
            <a:ext cx="2238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2390775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¿Los archivos modificados corresponden al plan?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428750" y="3076575"/>
            <a:ext cx="2238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3076575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¿Checks aprobados y logs o artifacts necesarios?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428750" y="3762375"/>
            <a:ext cx="2238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Ownership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3762375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¿Los owners revisaron las áreas sensibles?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2238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Policy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4448175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¿Cumple rulesets, branch rules y Environments?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1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619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1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1428750" y="5133975"/>
            <a:ext cx="2238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Fallback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1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3943350" y="5133975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¿Hay rollback y criterio de escalamiento?</a:t>
            </a:r>
          </a:p>
        </p:txBody>
      </p:sp>
    </p:spTree>
    <p:extLst>
      <p:ext uri="{BB962C8B-B14F-4D97-AF65-F5344CB8AC3E}">
        <p14:creationId xmlns:p14="http://schemas.microsoft.com/office/powerpoint/2010/main" val="210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1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Modelo completo de una contribución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2524125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agente interpreta la tarea.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264795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3333750"/>
            <a:ext cx="2524125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Scope, éxito y fallback.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1809750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248400" y="3333750"/>
            <a:ext cx="2524125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Branch, cambios, commits y PR.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1809750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264795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Evaluate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1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9067800" y="3333750"/>
            <a:ext cx="2524125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Checks, seguridad y juicio humano.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1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Cumple: continúa según políticas. No cumple: itera. No puede resolverlo: escala.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1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Comprensible     Acotada     Revisable     Conforme a políticas     Reconstruible</a:t>
            </a:r>
          </a:p>
        </p:txBody>
      </p:sp>
    </p:spTree>
    <p:extLst>
      <p:ext uri="{BB962C8B-B14F-4D97-AF65-F5344CB8AC3E}">
        <p14:creationId xmlns:p14="http://schemas.microsoft.com/office/powerpoint/2010/main" val="2200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1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El rol del desarrollador se amplía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619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Definir objetivos</a:t>
            </a:r>
          </a:p>
          <a:p>
            <a:pPr>
              <a:defRPr sz="3900" b="1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y decidir qué se acepta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1724025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Guía al agente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2152650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Con objetivos y planes claros.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Configura límites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309562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Con permisos y políticas.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3609975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Supervisa acciones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4038600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Con evidencia y trazabilidad.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4552950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1F4EF"/>
                </a:solidFill>
                <a:latin typeface="DejaVu Sans"/>
                <a:ea typeface="DejaVu Sans"/>
                <a:cs typeface="DejaVu Sans"/>
              </a:rPr>
              <a:t>Valida resultados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1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953250" y="498157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CB2"/>
                </a:solidFill>
                <a:latin typeface="DejaVu Sans"/>
                <a:ea typeface="DejaVu Sans"/>
                <a:cs typeface="DejaVu Sans"/>
              </a:rPr>
              <a:t>Con criterio técnico y responsabilidad.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1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9E3AF"/>
                </a:solidFill>
                <a:latin typeface="DejaVu Sans"/>
                <a:ea typeface="DejaVu Sans"/>
                <a:cs typeface="DejaVu Sans"/>
              </a:rPr>
              <a:t>El agente participa en el SDLC bajo los controles del workflow.</a:t>
            </a:r>
          </a:p>
        </p:txBody>
      </p:sp>
    </p:spTree>
    <p:extLst>
      <p:ext uri="{BB962C8B-B14F-4D97-AF65-F5344CB8AC3E}">
        <p14:creationId xmlns:p14="http://schemas.microsoft.com/office/powerpoint/2010/main" val="2300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1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Continuidad del aprendizaje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1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1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Arquitectura e integración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1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Developing Agent Architecture and SDLC Integration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1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learn.microsoft.com/en-us/training/modules/</a:t>
            </a:r>
          </a:p>
          <a:p>
            <a:pPr>
              <a:def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design-agent-architecture-integration/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1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Herramientas y entornos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1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2A2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A23"/>
                </a:solidFill>
                <a:latin typeface="DejaVu Sans"/>
                <a:ea typeface="DejaVu Sans"/>
                <a:cs typeface="DejaVu Sans"/>
              </a:rPr>
              <a:t>Tooling, MCP, and Agent Execution Environments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1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learn.microsoft.com/en-us/training/modules/</a:t>
            </a:r>
          </a:p>
          <a:p>
            <a:pPr>
              <a:def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agent-tooling-mcp-execution-environments/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1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164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16447"/>
                </a:solidFill>
                <a:latin typeface="DejaVu Sans"/>
                <a:ea typeface="DejaVu Sans"/>
                <a:cs typeface="DejaVu Sans"/>
              </a:rPr>
              <a:t>Una buena contribución es comprensible, acotada, revisable, conforme a políticas y reconstruible.</a:t>
            </a:r>
          </a:p>
        </p:txBody>
      </p:sp>
    </p:spTree>
    <p:extLst>
      <p:ext uri="{BB962C8B-B14F-4D97-AF65-F5344CB8AC3E}">
        <p14:creationId xmlns:p14="http://schemas.microsoft.com/office/powerpoint/2010/main" val="24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</cp:revision>
  <dcterms:created xsi:type="dcterms:W3CDTF">2026-10-27T21:56:38Z</dcterms:created>
  <dcterms:modified xsi:type="dcterms:W3CDTF">2026-10-28T19:31:33Z</dcterms:modified>
</cp:coreProperties>
</file>