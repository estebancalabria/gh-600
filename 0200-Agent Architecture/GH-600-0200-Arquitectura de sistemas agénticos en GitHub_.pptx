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3" dt="2026-10-28T19:40:36.6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C9CDEA-55AB-4337-9256-68F37A2B6E2E}" type="datetimeFigureOut">
              <a:t>10/28/2026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BF272E-E204-48A4-9F54-CD2C80E2027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3A0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 ·  AGENTES  ·  GOBERNANZA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6583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F6F0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Arquitectura de sistemas agénticos en GitHub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31520" y="420624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D9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Autonomía dentro de límites explícitos, verificables y auditables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955280" y="914400"/>
            <a:ext cx="3657600" cy="868680"/>
          </a:xfrm>
          <a:prstGeom prst="roundRect">
            <a:avLst>
              <a:gd name="adj" fmla="val 10526"/>
            </a:avLst>
          </a:prstGeom>
          <a:solidFill>
            <a:srgbClr val="3A3531"/>
          </a:solidFill>
          <a:ln w="12700">
            <a:solidFill>
              <a:srgbClr val="5A52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0" y="91440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3A0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778240" y="9144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propone y ejecuta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5097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A0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955280" y="2240280"/>
            <a:ext cx="3657600" cy="868680"/>
          </a:xfrm>
          <a:prstGeom prst="roundRect">
            <a:avLst>
              <a:gd name="adj" fmla="val 10526"/>
            </a:avLst>
          </a:prstGeom>
          <a:solidFill>
            <a:srgbClr val="3A3531"/>
          </a:solidFill>
          <a:ln w="12700">
            <a:solidFill>
              <a:srgbClr val="5A52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0" y="224028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3A0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778240" y="22402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+ Pull Request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50976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A0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955280" y="3566160"/>
            <a:ext cx="3657600" cy="868680"/>
          </a:xfrm>
          <a:prstGeom prst="roundRect">
            <a:avLst>
              <a:gd name="adj" fmla="val 10526"/>
            </a:avLst>
          </a:prstGeom>
          <a:solidFill>
            <a:srgbClr val="3A3531"/>
          </a:solidFill>
          <a:ln w="12700">
            <a:solidFill>
              <a:srgbClr val="5A52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356616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3A0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778240" y="356616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Checks, reviews y políticas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50976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A0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955280" y="4892040"/>
            <a:ext cx="3657600" cy="868680"/>
          </a:xfrm>
          <a:prstGeom prst="roundRect">
            <a:avLst>
              <a:gd name="adj" fmla="val 10526"/>
            </a:avLst>
          </a:prstGeom>
          <a:solidFill>
            <a:srgbClr val="5F8363"/>
          </a:solidFill>
          <a:ln w="12700">
            <a:solidFill>
              <a:srgbClr val="5F83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0" y="489204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778240" y="48920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decidido por personas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INTRODUCCIÓN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agentes cambian cómo se desarrolla el software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3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55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agente puede…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 objetivos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el estado de un repositorio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Proponer soluciones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ramas y modificar archivos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Pull Requests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procesos de validación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Iterar a partir de pruebas, análisis de seguridad y revisiones de código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0" y="1600200"/>
            <a:ext cx="640080" cy="640080"/>
          </a:xfrm>
          <a:prstGeom prst="ellipse">
            <a:avLst/>
          </a:prstGeom>
          <a:solidFill>
            <a:srgbClr val="F1D9CF"/>
          </a:solidFill>
          <a:ln w="12700">
            <a:solidFill>
              <a:srgbClr val="F1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agent/turn1/workspace/output/_anthropic_assets/icon-warning-5fdf2f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4818" y="1744218"/>
            <a:ext cx="352044" cy="3520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223760" y="155448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2B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Más capacidades no convierten a un agente en un agente confiable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400800" y="25146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 diseñarse para que sus acciones sean: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0" y="2926080"/>
            <a:ext cx="2560320" cy="868680"/>
          </a:xfrm>
          <a:prstGeom prst="roundRect">
            <a:avLst>
              <a:gd name="adj" fmla="val 8421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583680" y="292608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132320" y="292608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Limitadas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9052560" y="2926080"/>
            <a:ext cx="2560320" cy="868680"/>
          </a:xfrm>
          <a:prstGeom prst="roundRect">
            <a:avLst>
              <a:gd name="adj" fmla="val 8421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235440" y="292608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784080" y="292608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Observables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400800" y="3977640"/>
            <a:ext cx="2560320" cy="868680"/>
          </a:xfrm>
          <a:prstGeom prst="roundRect">
            <a:avLst>
              <a:gd name="adj" fmla="val 8421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583680" y="397764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132320" y="39776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Auditables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9052560" y="3977640"/>
            <a:ext cx="2560320" cy="868680"/>
          </a:xfrm>
          <a:prstGeom prst="roundRect">
            <a:avLst>
              <a:gd name="adj" fmla="val 8421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9235440" y="397764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9784080" y="39776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Validables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6400800" y="5029200"/>
            <a:ext cx="2560320" cy="868680"/>
          </a:xfrm>
          <a:prstGeom prst="roundRect">
            <a:avLst>
              <a:gd name="adj" fmla="val 8421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583680" y="502920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132320" y="50292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Reversibles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9052560" y="5029200"/>
            <a:ext cx="2560320" cy="868680"/>
          </a:xfrm>
          <a:prstGeom prst="roundRect">
            <a:avLst>
              <a:gd name="adj" fmla="val 8421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9235440" y="502920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9784080" y="50292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Gobernadas por políticas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 IDEA CENTRAL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Proponer y ejecutar no es lo mismo que decidir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3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760720" cy="3017520"/>
          </a:xfrm>
          <a:prstGeom prst="roundRect">
            <a:avLst>
              <a:gd name="adj" fmla="val 3030"/>
            </a:avLst>
          </a:prstGeom>
          <a:solidFill>
            <a:srgbClr val="B5523B"/>
          </a:solidFill>
          <a:ln w="12700">
            <a:solidFill>
              <a:srgbClr val="B552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8308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i="1" dirty="0">
                <a:solidFill>
                  <a:srgbClr val="FFF8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“Los agentes proponen y ejecutan dentro de límites definidos. Las personas y las políticas deciden qué se acepta.”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48640" y="4846320"/>
            <a:ext cx="5760720" cy="1188720"/>
          </a:xfrm>
          <a:prstGeom prst="roundRect">
            <a:avLst>
              <a:gd name="adj" fmla="val 6154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5074920"/>
            <a:ext cx="731520" cy="731520"/>
          </a:xfrm>
          <a:prstGeom prst="ellipse">
            <a:avLst/>
          </a:prstGeom>
          <a:solidFill>
            <a:srgbClr val="F1D9CF"/>
          </a:solidFill>
          <a:ln w="12700">
            <a:solidFill>
              <a:srgbClr val="F1D9CF"/>
            </a:solidFill>
            <a:prstDash val="solid"/>
          </a:ln>
        </p:spPr>
      </p:sp>
      <p:pic>
        <p:nvPicPr>
          <p:cNvPr id="9" name="Image 0" descr="/agent/turn1/workspace/output/_anthropic_assets/icon-shield-checkmark-6e198a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5239512"/>
            <a:ext cx="402336" cy="4023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37360" y="484632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aporta los mecanismos para implementar esta arquitectura: trazabilidad, validación automática y control humano.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766560" y="16002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MECANISMOS DE GITHUB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766560" y="201168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DCE5D6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0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9235440" y="201168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26880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766560" y="278892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0" y="2788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9235440" y="278892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DCE5D6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326880" y="2788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766560" y="356616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858000" y="3566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Rulesets y Branch Protection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9235440" y="356616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326880" y="3566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CODEOWNERS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766560" y="434340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DCE5D6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58000" y="4343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9235440" y="434340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326880" y="4343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766560" y="512064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858000" y="5120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9235440" y="512064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DCE5D6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326880" y="5120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6766560" y="5897880"/>
            <a:ext cx="4846320" cy="365760"/>
          </a:xfrm>
          <a:prstGeom prst="roundRect">
            <a:avLst>
              <a:gd name="adj" fmla="val 20000"/>
            </a:avLst>
          </a:prstGeom>
          <a:solidFill>
            <a:srgbClr val="F1D9CF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766560" y="5897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— herramientas ampliadas para agentes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CONCEPTOS FUNDAMENTALES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y Planning: un artefacto y una capacidad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3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583680" cy="4480560"/>
          </a:xfrm>
          <a:prstGeom prst="roundRect">
            <a:avLst>
              <a:gd name="adj" fmla="val 1633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83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ARTEFACTO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qué cambios se pretende realizar. Puede aparecer, por ejemplo, en la descripción de un Pull Request.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520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Normalmente incluye: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388620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que se modificarán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 de implementación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40480" y="388620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éxito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rollback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406640" y="1600200"/>
            <a:ext cx="4206240" cy="4480560"/>
          </a:xfrm>
          <a:prstGeom prst="roundRect">
            <a:avLst>
              <a:gd name="adj" fmla="val 1739"/>
            </a:avLst>
          </a:prstGeom>
          <a:solidFill>
            <a:srgbClr val="DCE5D6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26680" y="17830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Planning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726680" y="2286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F83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CAPACIDAD DEL AGENTE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26680" y="26974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o refinar el plan a partir de una tarea, un Issue o una instrucción.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726680" y="3886200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26680" y="3886200"/>
            <a:ext cx="35661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/ Issue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26680" y="4434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Planning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26680" y="4800600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B5523B"/>
          </a:solidFill>
          <a:ln w="12700">
            <a:solidFill>
              <a:srgbClr val="B552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26680" y="4800600"/>
            <a:ext cx="35661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SDLC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Responsabilidades del agente a lo largo del SDLC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3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7040880" cy="338328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8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7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8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Responsabilidad posible del agente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7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8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Artefacto principal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7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Definir alcance, pasos y criterios de éxito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Issue, descripción del PR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Crear una rama y modificar código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Branch, commits, PR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Ejecutar pruebas y analizar resultados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 runs, checks, artifacts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Preparar el despliegue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Environments y approvals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548640" y="5074920"/>
            <a:ext cx="7040880" cy="1005840"/>
          </a:xfrm>
          <a:prstGeom prst="roundRect">
            <a:avLst>
              <a:gd name="adj" fmla="val 7273"/>
            </a:avLst>
          </a:prstGeom>
          <a:solidFill>
            <a:srgbClr val="F1D9CF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507492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55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Principio: </a:t>
            </a:r>
            <a:r>
              <a:rPr lang="en-US" sz="14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cuanto mayor sea el riesgo de una operación, menor debería ser la autonomía del agente. Más autonomía en implementación y validación; controles más estrictos al llegar al despliegue.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863840" y="1600200"/>
            <a:ext cx="3749040" cy="4480560"/>
          </a:xfrm>
          <a:prstGeom prst="roundRect">
            <a:avLst>
              <a:gd name="adj" fmla="val 1951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3816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RIESGO POR ÁREA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138160" y="2286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7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0424160" y="2331720"/>
            <a:ext cx="1005840" cy="411480"/>
          </a:xfrm>
          <a:prstGeom prst="roundRect">
            <a:avLst>
              <a:gd name="adj" fmla="val 48889"/>
            </a:avLst>
          </a:prstGeom>
          <a:solidFill>
            <a:srgbClr val="5F8363"/>
          </a:solidFill>
          <a:ln w="12700">
            <a:solidFill>
              <a:srgbClr val="5F836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0" y="23317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38160" y="3017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7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0424160" y="3063240"/>
            <a:ext cx="1005840" cy="411480"/>
          </a:xfrm>
          <a:prstGeom prst="roundRect">
            <a:avLst>
              <a:gd name="adj" fmla="val 48889"/>
            </a:avLst>
          </a:prstGeom>
          <a:solidFill>
            <a:srgbClr val="9A7420"/>
          </a:solidFill>
          <a:ln w="12700">
            <a:solidFill>
              <a:srgbClr val="9A742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424160" y="30632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138160" y="3749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7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.github/workflows/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0424160" y="3794760"/>
            <a:ext cx="1005840" cy="411480"/>
          </a:xfrm>
          <a:prstGeom prst="roundRect">
            <a:avLst>
              <a:gd name="adj" fmla="val 48889"/>
            </a:avLst>
          </a:prstGeom>
          <a:solidFill>
            <a:srgbClr val="B5523B"/>
          </a:solidFill>
          <a:ln w="12700">
            <a:solidFill>
              <a:srgbClr val="B5523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424160" y="37947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138160" y="4480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7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infra/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10424160" y="4526280"/>
            <a:ext cx="1005840" cy="411480"/>
          </a:xfrm>
          <a:prstGeom prst="roundRect">
            <a:avLst>
              <a:gd name="adj" fmla="val 48889"/>
            </a:avLst>
          </a:prstGeom>
          <a:solidFill>
            <a:srgbClr val="B5523B"/>
          </a:solidFill>
          <a:ln w="12700">
            <a:solidFill>
              <a:srgbClr val="B5523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424160" y="45262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138160" y="5212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7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Producción y secretos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0424160" y="5257800"/>
            <a:ext cx="1005840" cy="411480"/>
          </a:xfrm>
          <a:prstGeom prst="roundRect">
            <a:avLst>
              <a:gd name="adj" fmla="val 48889"/>
            </a:avLst>
          </a:prstGeom>
          <a:solidFill>
            <a:srgbClr val="7A2E22"/>
          </a:solidFill>
          <a:ln w="12700">
            <a:solidFill>
              <a:srgbClr val="7A2E2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424160" y="52578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RADIO DE IMPACTO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Limitar qué puede modificar el agente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3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F83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PERMITIDO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74720" y="1600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PROHIBIDO (SALVO AUTORIZACIÓN)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2B2724"/>
          </a:solidFill>
          <a:ln w="6350">
            <a:solidFill>
              <a:srgbClr val="2B27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0116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package.json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package-lock.json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0" y="192024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2B2724"/>
          </a:solidFill>
          <a:ln w="6350">
            <a:solidFill>
              <a:srgbClr val="2B27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20116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infra/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.github/workflows/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520440"/>
            <a:ext cx="5669280" cy="2560320"/>
          </a:xfrm>
          <a:prstGeom prst="roundRect">
            <a:avLst>
              <a:gd name="adj" fmla="val 2857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657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Evitar como regla general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2960" y="411480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directo a main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Modificación irrestricta de workflows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innecesario a secretos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Despliegues automáticos sobre producción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de escritura que el agente no necesita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675120" y="1600200"/>
            <a:ext cx="4937760" cy="4480560"/>
          </a:xfrm>
          <a:prstGeom prst="roundRect">
            <a:avLst>
              <a:gd name="adj" fmla="val 1633"/>
            </a:avLst>
          </a:prstGeom>
          <a:solidFill>
            <a:srgbClr val="DCE5D6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0" y="182880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0" y="1828800"/>
            <a:ext cx="29260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778240" y="2286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680960" y="256032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0" y="2560320"/>
            <a:ext cx="29260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778240" y="3017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680960" y="329184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B5523B"/>
          </a:solidFill>
          <a:ln w="12700">
            <a:solidFill>
              <a:srgbClr val="B552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0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778240" y="3749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680960" y="402336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0" y="4023360"/>
            <a:ext cx="29260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+ Reviews + Policies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778240" y="4480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680960" y="475488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2B2724"/>
          </a:solidFill>
          <a:ln w="12700">
            <a:solidFill>
              <a:srgbClr val="2B27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0" y="4754880"/>
            <a:ext cx="29260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49440" y="54864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2B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Pull Request es un punto de control arquitectónico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CONTRATOS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tareas se definen como contratos de ejecución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3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566160" cy="3337560"/>
          </a:xfrm>
          <a:prstGeom prst="roundRect">
            <a:avLst>
              <a:gd name="adj" fmla="val 2192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83080"/>
            <a:ext cx="640080" cy="640080"/>
          </a:xfrm>
          <a:prstGeom prst="ellipse">
            <a:avLst/>
          </a:prstGeom>
          <a:solidFill>
            <a:srgbClr val="F1D9CF"/>
          </a:solidFill>
          <a:ln w="12700">
            <a:solidFill>
              <a:srgbClr val="F1D9CF"/>
            </a:solidFill>
            <a:prstDash val="solid"/>
          </a:ln>
        </p:spPr>
      </p:sp>
      <p:pic>
        <p:nvPicPr>
          <p:cNvPr id="7" name="Image 0" descr="/agent/turn1/workspace/output/_anthropic_assets/icon-lock-closed-5fa22d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258" y="1927098"/>
            <a:ext cx="352044" cy="3520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7830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77240" y="25603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información y límites recibe el agente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310896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que describe una vulnerabilidad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que puede modificar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Directorios prohibidos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 de seguridad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del repositorio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297680" y="1600200"/>
            <a:ext cx="3566160" cy="3337560"/>
          </a:xfrm>
          <a:prstGeom prst="roundRect">
            <a:avLst>
              <a:gd name="adj" fmla="val 2192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26280" y="1783080"/>
            <a:ext cx="640080" cy="640080"/>
          </a:xfrm>
          <a:prstGeom prst="ellipse">
            <a:avLst/>
          </a:prstGeom>
          <a:solidFill>
            <a:srgbClr val="F1D9CF"/>
          </a:solidFill>
          <a:ln w="12700">
            <a:solidFill>
              <a:srgbClr val="F1D9CF"/>
            </a:solidFill>
            <a:prstDash val="solid"/>
          </a:ln>
        </p:spPr>
      </p:sp>
      <p:pic>
        <p:nvPicPr>
          <p:cNvPr id="13" name="Image 1" descr="/agent/turn1/workspace/output/_anthropic_assets/icon-branch-fork-ad4ac9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0298" y="1927098"/>
            <a:ext cx="352044" cy="3520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03520" y="17830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Outputs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526280" y="25603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debe producir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526280" y="310896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plan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rama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o varios commits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Pull Request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de las pruebas realizadas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046720" y="1600200"/>
            <a:ext cx="3566160" cy="3337560"/>
          </a:xfrm>
          <a:prstGeom prst="roundRect">
            <a:avLst>
              <a:gd name="adj" fmla="val 2192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275320" y="1783080"/>
            <a:ext cx="640080" cy="640080"/>
          </a:xfrm>
          <a:prstGeom prst="ellipse">
            <a:avLst/>
          </a:prstGeom>
          <a:solidFill>
            <a:srgbClr val="F1D9CF"/>
          </a:solidFill>
          <a:ln w="12700">
            <a:solidFill>
              <a:srgbClr val="F1D9CF"/>
            </a:solidFill>
            <a:prstDash val="solid"/>
          </a:ln>
        </p:spPr>
      </p:sp>
      <p:pic>
        <p:nvPicPr>
          <p:cNvPr id="19" name="Image 2" descr="/agent/turn1/workspace/output/_anthropic_assets/icon-target-arrow-240e98b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9338" y="1927098"/>
            <a:ext cx="352044" cy="3520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052560" y="17830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 Criteria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8275320" y="25603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sabemos que resolvió el problema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8275320" y="310896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tests y lint exitosos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 eliminada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archivo fuera del alcance modificado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Revisiones requeridas aprobadas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548640" y="516636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2B2724"/>
          </a:solidFill>
          <a:ln w="12700">
            <a:solidFill>
              <a:srgbClr val="2B2724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22960" y="5166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3A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CI termine bien no significa que el objetivo se cumplió. </a:t>
            </a:r>
            <a:r>
              <a:rPr lang="en-US" sz="1500" dirty="0">
                <a:solidFill>
                  <a:srgbClr val="F6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objetivo era eliminar una vulnerabilidad, el criterio debe comprobar que fue realmente eliminada, no solo que los tests pasan.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SEPARACIÓN DE RESPONSABILIDADES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Separar Planning, Execution y Validation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3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830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B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Planning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6B6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vamos a hacer y por qué?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931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F83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REPRESENTACIÓN EN GITHUB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4251960"/>
            <a:ext cx="3017520" cy="640080"/>
          </a:xfrm>
          <a:prstGeom prst="roundRect">
            <a:avLst>
              <a:gd name="adj" fmla="val 11429"/>
            </a:avLst>
          </a:prstGeom>
          <a:solidFill>
            <a:srgbClr val="DCE5D6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251960"/>
            <a:ext cx="30175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Issue, descripción del PR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7680" y="160020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7830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572000" y="23774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B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Execution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572000" y="29260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6B6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cambios concretos se realizaron?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3931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F83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REPRESENTACIÓN EN GITHUB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4251960"/>
            <a:ext cx="3017520" cy="640080"/>
          </a:xfrm>
          <a:prstGeom prst="roundRect">
            <a:avLst>
              <a:gd name="adj" fmla="val 11429"/>
            </a:avLst>
          </a:prstGeom>
          <a:solidFill>
            <a:srgbClr val="DCE5D6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4251960"/>
            <a:ext cx="30175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+ commits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46720" y="160020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17830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321040" y="23774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B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321040" y="29260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6B6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evidencia demuestra que los cambios son correctos?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21040" y="3931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F83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REPRESENTACIÓN EN GITHUB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321040" y="4251960"/>
            <a:ext cx="3017520" cy="640080"/>
          </a:xfrm>
          <a:prstGeom prst="roundRect">
            <a:avLst>
              <a:gd name="adj" fmla="val 11429"/>
            </a:avLst>
          </a:prstGeom>
          <a:solidFill>
            <a:srgbClr val="DCE5D6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0" y="4251960"/>
            <a:ext cx="30175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+ scans + artifacts + reviews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539496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2B2724"/>
          </a:solidFill>
          <a:ln w="12700">
            <a:solidFill>
              <a:srgbClr val="2B27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3949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6F0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Así se puede revisar el objetivo antes de aceptar el impacto de los cambios.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ESTRATEGIAS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Plan-first vs. Plan + Execution: cuándo se valida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3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40680" cy="3611880"/>
          </a:xfrm>
          <a:prstGeom prst="roundRect">
            <a:avLst>
              <a:gd name="adj" fmla="val 2025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373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Opción A · Plan-first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2286000"/>
            <a:ext cx="4892040" cy="868680"/>
          </a:xfrm>
          <a:prstGeom prst="roundRect">
            <a:avLst>
              <a:gd name="adj" fmla="val 8421"/>
            </a:avLst>
          </a:prstGeom>
          <a:solidFill>
            <a:srgbClr val="2B2724"/>
          </a:solidFill>
          <a:ln w="6350">
            <a:solidFill>
              <a:srgbClr val="2B27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37744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Tarea → Plan → Revisión humana → Aprobación → Implementación → Validación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CUÁNDO UTILIZARLO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3611880"/>
            <a:ext cx="4892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Infraestructura, autenticación y seguridad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y producción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difíciles de revertir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5394960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DCE5D6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53949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antes de generar cambios: reduce la exposición temprana.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1600200"/>
            <a:ext cx="5440680" cy="3611880"/>
          </a:xfrm>
          <a:prstGeom prst="roundRect">
            <a:avLst>
              <a:gd name="adj" fmla="val 2025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7373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Opción B · Plan + Execution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446520" y="2286000"/>
            <a:ext cx="4892040" cy="868680"/>
          </a:xfrm>
          <a:prstGeom prst="roundRect">
            <a:avLst>
              <a:gd name="adj" fmla="val 8421"/>
            </a:avLst>
          </a:prstGeom>
          <a:solidFill>
            <a:srgbClr val="2B2724"/>
          </a:solidFill>
          <a:ln w="6350">
            <a:solidFill>
              <a:srgbClr val="2B27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237744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Tarea → Plan + código → Pull Request → Checks + Reviews → Merge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3291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CUÁNDO UTILIZARLO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46520" y="3611880"/>
            <a:ext cx="4892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bajo o medio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fáciles de revertir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en velocidad e iteración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simultánea de intención y código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5394960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F1D9CF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53949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después de generar cambios, pero antes del merge: favorece la velocidad.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· INSTRUCCIONES VS. CONTROLES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instrucción no es un control técnico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3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4206240" cy="3566160"/>
          </a:xfrm>
          <a:prstGeom prst="roundRect">
            <a:avLst>
              <a:gd name="adj" fmla="val 2051"/>
            </a:avLst>
          </a:prstGeom>
          <a:solidFill>
            <a:srgbClr val="F1D9CF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rgbClr val="F1D9CF"/>
          </a:solidFill>
          <a:ln w="12700">
            <a:solidFill>
              <a:srgbClr val="F1D9CF"/>
            </a:solidFill>
            <a:prstDash val="solid"/>
          </a:ln>
        </p:spPr>
      </p:sp>
      <p:pic>
        <p:nvPicPr>
          <p:cNvPr id="7" name="Image 0" descr="/agent/turn1/workspace/output/_anthropic_assets/icon-warning-5fdf2f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978" y="1927098"/>
            <a:ext cx="352044" cy="3520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7830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B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Instrucción al modelo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22960" y="26974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B55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“No modifiques archivos todavía.”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22960" y="38404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 el comportamiento del modelo, pero no impide técnicamente que la acción ocurra.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29200" y="1600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F83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CONTROLES TÉCNICOS QUE SÍ LIMITAN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0" y="2011680"/>
            <a:ext cx="2148840" cy="868680"/>
          </a:xfrm>
          <a:prstGeom prst="roundRect">
            <a:avLst>
              <a:gd name="adj" fmla="val 8421"/>
            </a:avLst>
          </a:prstGeom>
          <a:solidFill>
            <a:srgbClr val="DCE5D6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20640" y="201168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allowlists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269480" y="2011680"/>
            <a:ext cx="2148840" cy="868680"/>
          </a:xfrm>
          <a:prstGeom prst="roundRect">
            <a:avLst>
              <a:gd name="adj" fmla="val 8421"/>
            </a:avLst>
          </a:prstGeom>
          <a:solidFill>
            <a:srgbClr val="DCE5D6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60920" y="201168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de planificación read-only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9509760" y="2011680"/>
            <a:ext cx="2148840" cy="868680"/>
          </a:xfrm>
          <a:prstGeom prst="roundRect">
            <a:avLst>
              <a:gd name="adj" fmla="val 8421"/>
            </a:avLst>
          </a:prstGeom>
          <a:solidFill>
            <a:srgbClr val="DCE5D6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601200" y="201168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Handoffs explícitos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0" y="3063240"/>
            <a:ext cx="2148840" cy="868680"/>
          </a:xfrm>
          <a:prstGeom prst="roundRect">
            <a:avLst>
              <a:gd name="adj" fmla="val 8421"/>
            </a:avLst>
          </a:prstGeom>
          <a:solidFill>
            <a:srgbClr val="DCE5D6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20640" y="306324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Rulesets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269480" y="3063240"/>
            <a:ext cx="2148840" cy="868680"/>
          </a:xfrm>
          <a:prstGeom prst="roundRect">
            <a:avLst>
              <a:gd name="adj" fmla="val 8421"/>
            </a:avLst>
          </a:prstGeom>
          <a:solidFill>
            <a:srgbClr val="DCE5D6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60920" y="306324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Protection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9509760" y="3063240"/>
            <a:ext cx="2148840" cy="868680"/>
          </a:xfrm>
          <a:prstGeom prst="roundRect">
            <a:avLst>
              <a:gd name="adj" fmla="val 8421"/>
            </a:avLst>
          </a:prstGeom>
          <a:solidFill>
            <a:srgbClr val="DCE5D6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601200" y="306324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Checks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029200" y="4114800"/>
            <a:ext cx="2148840" cy="868680"/>
          </a:xfrm>
          <a:prstGeom prst="roundRect">
            <a:avLst>
              <a:gd name="adj" fmla="val 8421"/>
            </a:avLst>
          </a:prstGeom>
          <a:solidFill>
            <a:srgbClr val="DCE5D6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20640" y="411480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CODEOWNERS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7269480" y="4114800"/>
            <a:ext cx="2148840" cy="868680"/>
          </a:xfrm>
          <a:prstGeom prst="roundRect">
            <a:avLst>
              <a:gd name="adj" fmla="val 8421"/>
            </a:avLst>
          </a:prstGeom>
          <a:solidFill>
            <a:srgbClr val="DCE5D6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60920" y="411480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Approvals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9509760" y="4114800"/>
            <a:ext cx="2148840" cy="868680"/>
          </a:xfrm>
          <a:prstGeom prst="roundRect">
            <a:avLst>
              <a:gd name="adj" fmla="val 8421"/>
            </a:avLst>
          </a:prstGeom>
          <a:solidFill>
            <a:srgbClr val="DCE5D6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601200" y="411480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548640" y="539496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2B2724"/>
          </a:solidFill>
          <a:ln w="12700">
            <a:solidFill>
              <a:srgbClr val="2B272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22960" y="53949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6F0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instrucciones orientan el comportamiento. Los controles técnicos lo hacen cumplir.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· GOBERNANZA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Pull Request como mecanismo de control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3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4937760" cy="4480560"/>
          </a:xfrm>
          <a:prstGeom prst="roundRect">
            <a:avLst>
              <a:gd name="adj" fmla="val 1633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830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crea una branch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30428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23042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crea un Pull Request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82549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82549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 contiene el plan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34670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334670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ejecuta validaciones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386791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386791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CODEOWNERS determina revisores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43891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43891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Reviews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491032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49103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Checks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543153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17320" y="543153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permitido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60720" y="16002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PLANTILLA: .github/pull_request_template.md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760720" y="1920240"/>
            <a:ext cx="5852160" cy="2743200"/>
          </a:xfrm>
          <a:prstGeom prst="roundRect">
            <a:avLst>
              <a:gd name="adj" fmla="val 2667"/>
            </a:avLst>
          </a:prstGeom>
          <a:solidFill>
            <a:srgbClr val="2B2724"/>
          </a:solidFill>
          <a:ln w="6350">
            <a:solidFill>
              <a:srgbClr val="2B27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2011680"/>
            <a:ext cx="5577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Plan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**Objetivo:**  **Alcance:**  **Archivos afectados:**  **Pasos:**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Criterios de éxito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Build exitoso   - [ ] Tests exitosos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Análisis de seguridad revisado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Cambios limitados al alcance definido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Riesgos  /  ## Mitigaciones  /  ## Rollback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Evidencia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Workflow runs, resultados de tests y de seguridad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Revisión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Plan revisado  - [ ] Reviews y checks requeridos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760720" y="4846320"/>
            <a:ext cx="5852160" cy="1234440"/>
          </a:xfrm>
          <a:prstGeom prst="roundRect">
            <a:avLst>
              <a:gd name="adj" fmla="val 5926"/>
            </a:avLst>
          </a:prstGeom>
          <a:solidFill>
            <a:srgbClr val="DCE5D6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9320" y="4846320"/>
            <a:ext cx="5394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puede crear y modificar código sin autoridad para decidir unilateralmente si debe incorporarse. La plantilla hace la propuesta fácil de entender y revisar.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· GITHUB ACTIONS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Actions convierte criterios de éxito en controles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3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035040" cy="4480560"/>
          </a:xfrm>
          <a:prstGeom prst="roundRect">
            <a:avLst>
              <a:gd name="adj" fmla="val 1633"/>
            </a:avLst>
          </a:prstGeom>
          <a:solidFill>
            <a:srgbClr val="2B2724"/>
          </a:solidFill>
          <a:ln w="6350">
            <a:solidFill>
              <a:srgbClr val="2B27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57607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pull_request: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branches: [main]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actions/checkout@v4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npm test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security-analysis: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permissions: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contents: read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security-events: write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actions/checkout@v4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Initialize analysis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uses: github/codeql-action/init@v3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Analyze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uses: github/codeql-action/analyze@v3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949440" y="1600200"/>
            <a:ext cx="4663440" cy="594360"/>
          </a:xfrm>
          <a:prstGeom prst="roundRect">
            <a:avLst>
              <a:gd name="adj" fmla="val 12308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949440" y="1600200"/>
            <a:ext cx="46634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éxito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15400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949440" y="2468880"/>
            <a:ext cx="4663440" cy="594360"/>
          </a:xfrm>
          <a:prstGeom prst="roundRect">
            <a:avLst>
              <a:gd name="adj" fmla="val 12308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949440" y="2468880"/>
            <a:ext cx="46634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de GitHub Actions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15400" y="3063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949440" y="3337560"/>
            <a:ext cx="4663440" cy="594360"/>
          </a:xfrm>
          <a:prstGeom prst="roundRect">
            <a:avLst>
              <a:gd name="adj" fmla="val 12308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949440" y="3337560"/>
            <a:ext cx="46634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Check (Ruleset o Branch Protection)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915400" y="39319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949440" y="4206240"/>
            <a:ext cx="4663440" cy="594360"/>
          </a:xfrm>
          <a:prstGeom prst="roundRect">
            <a:avLst>
              <a:gd name="adj" fmla="val 12308"/>
            </a:avLst>
          </a:prstGeom>
          <a:solidFill>
            <a:srgbClr val="B5523B"/>
          </a:solidFill>
          <a:ln w="12700">
            <a:solidFill>
              <a:srgbClr val="B552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49440" y="4206240"/>
            <a:ext cx="46634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bloqueado hasta cumplirlo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949440" y="5120640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DCE5D6"/>
          </a:solidFill>
          <a:ln w="12700">
            <a:solidFill>
              <a:srgbClr val="D9CF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178040" y="512064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2B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éxito deja de ser algo asumido por el agente y pasa a ser comprobado por el sistema.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· CODEOWNERS Y RIESGO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Revisores según el área y autonomía según el riesgo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3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CODEOWNERS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4480560" cy="1463040"/>
          </a:xfrm>
          <a:prstGeom prst="roundRect">
            <a:avLst>
              <a:gd name="adj" fmla="val 5000"/>
            </a:avLst>
          </a:prstGeom>
          <a:solidFill>
            <a:srgbClr val="2B2724"/>
          </a:solidFill>
          <a:ln w="6350">
            <a:solidFill>
              <a:srgbClr val="2B27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1168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/security/          @security-team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/.github/workflows/ @platform-team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/infra/             @platform-team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                  @core-team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566160"/>
            <a:ext cx="4480560" cy="1600200"/>
          </a:xfrm>
          <a:prstGeom prst="roundRect">
            <a:avLst>
              <a:gd name="adj" fmla="val 4571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566160"/>
            <a:ext cx="4023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cambio en infra/ puede requerir automáticamente al equipo responsable. Clave cuando los agentes pueden tocar partes sensibles del repositorio.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600200"/>
          <a:ext cx="6309360" cy="35661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8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7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8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7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8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Autonomía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7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83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docs/, formato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Automerge después de validaciones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7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src/, dependencias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 + checks + review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infra/, workflows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CODEOWNERS + múltiples reviews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Producción, secretos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Approval humano obligatorio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539496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2B2724"/>
          </a:solidFill>
          <a:ln w="12700">
            <a:solidFill>
              <a:srgbClr val="2B272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53949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6F0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autonomía es una decisión arquitectónica, no una consecuencia accidental de los permisos disponibles.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· ENVIRONMENTS Y SECRETOS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Aprobación humana y secretos acotados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3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2B2724"/>
          </a:solidFill>
          <a:ln w="6350">
            <a:solidFill>
              <a:srgbClr val="2B27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deploy: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name: production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echo "Deploying to production..."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88620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DCE5D6"/>
          </a:solidFill>
          <a:ln w="12700">
            <a:solidFill>
              <a:srgbClr val="D9CF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4023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agente puede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44805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el cambio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el PR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tests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el despliegue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388620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1D9CF"/>
          </a:solidFill>
          <a:ln w="12700">
            <a:solidFill>
              <a:srgbClr val="D9CF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11880" y="4023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Pero no necesariamente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11880" y="45262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B55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Autorizar el despliegue a producción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309360" y="16002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583680" y="1783080"/>
            <a:ext cx="640080" cy="640080"/>
          </a:xfrm>
          <a:prstGeom prst="ellipse">
            <a:avLst/>
          </a:prstGeom>
          <a:solidFill>
            <a:srgbClr val="F1D9CF"/>
          </a:solidFill>
          <a:ln w="12700">
            <a:solidFill>
              <a:srgbClr val="F1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0" descr="/agent/turn1/workspace/output/_anthropic_assets/icon-key-8037277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7698" y="1927098"/>
            <a:ext cx="352044" cy="35204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406640" y="17830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Gestión de secretos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583680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NUNCA EN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583680" y="2926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de instrucciones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versionada o código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YAML en texto plano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583680" y="3931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F83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DEBEN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583680" y="425196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Inyectarse en runtime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Estar solo donde se necesitan, con alcance mínimo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límites protegidos, como environments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583680" y="53035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B55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entorno del agente puede tener su propio límite de secretos: no asumir que hereda los de CI.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· DISEÑO DE WORKFLOWS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Outputs, contextos y defensive gating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3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0" y="160020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0" y="160020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Outputs como contratos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2148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tratada como datos estructurados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143000" y="269748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DCE5D6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Output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74520" y="31546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43000" y="3355848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DCE5D6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3355848"/>
            <a:ext cx="21945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Output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874520" y="381304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43000" y="4014216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DCE5D6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4014216"/>
            <a:ext cx="21945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874520" y="44714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143000" y="4672584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B5523B"/>
          </a:solidFill>
          <a:ln w="12700">
            <a:solidFill>
              <a:srgbClr val="B552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4672584"/>
            <a:ext cx="21945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 Job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53492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output: entre pasos del mismo job. Job output: entre jobs, con needs.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26280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Contextos clave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26280" y="2331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github.*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526280" y="27432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evento: ¿qué lo disparó? (github.event_name)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26280" y="3566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vars.*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526280" y="39776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centralizada y reutilizable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26280" y="4800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env.*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526280" y="5212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del runtime (job o step)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75320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Defensive gating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8275320" y="2286000"/>
            <a:ext cx="3108960" cy="2194560"/>
          </a:xfrm>
          <a:prstGeom prst="roundRect">
            <a:avLst>
              <a:gd name="adj" fmla="val 3333"/>
            </a:avLst>
          </a:prstGeom>
          <a:solidFill>
            <a:srgbClr val="2B2724"/>
          </a:solidFill>
          <a:ln w="6350">
            <a:solidFill>
              <a:srgbClr val="2B27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0" y="237744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pull_request: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branches: [main]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workflow_dispatch: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validate-pr: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if: github.event_name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== 'pull_request'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75320" y="46634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Aunque el workflow pueda iniciarse a mano, ese job solo corre con el contexto de un Pull Request.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· OBSERVABILIDAD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Evidencia visible de cada acción del agente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3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MÍNIMO DE EVIDENCIA DEBE RESPONDER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1168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20116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B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intentó hacer el agente?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816352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816352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281635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B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modificó?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621024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621024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3621024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B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validaciones se realizaron?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425696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425696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4440" y="4425696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B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¿Cuál fue el resultado?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230368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5230368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34440" y="523036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B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¿Quién aprobó el cambio?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577840" y="16002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F83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DÓNDE QUEDA LA EVIDENCIA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577840" y="1965960"/>
            <a:ext cx="1947672" cy="457200"/>
          </a:xfrm>
          <a:prstGeom prst="roundRect">
            <a:avLst>
              <a:gd name="adj" fmla="val 16000"/>
            </a:avLst>
          </a:prstGeom>
          <a:solidFill>
            <a:srgbClr val="DCE5D6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1965960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616952" y="1965960"/>
            <a:ext cx="1947672" cy="457200"/>
          </a:xfrm>
          <a:prstGeom prst="roundRect">
            <a:avLst>
              <a:gd name="adj" fmla="val 16000"/>
            </a:avLst>
          </a:prstGeom>
          <a:solidFill>
            <a:srgbClr val="DCE5D6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16952" y="1965960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del PR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56064" y="1965960"/>
            <a:ext cx="1947672" cy="457200"/>
          </a:xfrm>
          <a:prstGeom prst="roundRect">
            <a:avLst>
              <a:gd name="adj" fmla="val 16000"/>
            </a:avLst>
          </a:prstGeom>
          <a:solidFill>
            <a:srgbClr val="DCE5D6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56064" y="1965960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577840" y="2514600"/>
            <a:ext cx="1947672" cy="457200"/>
          </a:xfrm>
          <a:prstGeom prst="roundRect">
            <a:avLst>
              <a:gd name="adj" fmla="val 16000"/>
            </a:avLst>
          </a:prstGeom>
          <a:solidFill>
            <a:srgbClr val="DCE5D6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77840" y="2514600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branches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616952" y="2514600"/>
            <a:ext cx="1947672" cy="457200"/>
          </a:xfrm>
          <a:prstGeom prst="roundRect">
            <a:avLst>
              <a:gd name="adj" fmla="val 16000"/>
            </a:avLst>
          </a:prstGeom>
          <a:solidFill>
            <a:srgbClr val="DCE5D6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16952" y="2514600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runs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56064" y="2514600"/>
            <a:ext cx="1947672" cy="457200"/>
          </a:xfrm>
          <a:prstGeom prst="roundRect">
            <a:avLst>
              <a:gd name="adj" fmla="val 16000"/>
            </a:avLst>
          </a:prstGeom>
          <a:solidFill>
            <a:srgbClr val="DCE5D6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56064" y="2514600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logs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577840" y="3063240"/>
            <a:ext cx="1947672" cy="457200"/>
          </a:xfrm>
          <a:prstGeom prst="roundRect">
            <a:avLst>
              <a:gd name="adj" fmla="val 16000"/>
            </a:avLst>
          </a:prstGeom>
          <a:solidFill>
            <a:srgbClr val="DCE5D6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77840" y="3063240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Checks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616952" y="3063240"/>
            <a:ext cx="1947672" cy="457200"/>
          </a:xfrm>
          <a:prstGeom prst="roundRect">
            <a:avLst>
              <a:gd name="adj" fmla="val 16000"/>
            </a:avLst>
          </a:prstGeom>
          <a:solidFill>
            <a:srgbClr val="DCE5D6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16952" y="3063240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scans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656064" y="3063240"/>
            <a:ext cx="1947672" cy="457200"/>
          </a:xfrm>
          <a:prstGeom prst="roundRect">
            <a:avLst>
              <a:gd name="adj" fmla="val 16000"/>
            </a:avLst>
          </a:prstGeom>
          <a:solidFill>
            <a:srgbClr val="DCE5D6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56064" y="3063240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artifacts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577840" y="3611880"/>
            <a:ext cx="1947672" cy="457200"/>
          </a:xfrm>
          <a:prstGeom prst="roundRect">
            <a:avLst>
              <a:gd name="adj" fmla="val 16000"/>
            </a:avLst>
          </a:prstGeom>
          <a:solidFill>
            <a:srgbClr val="DCE5D6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77840" y="3611880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616952" y="3611880"/>
            <a:ext cx="1947672" cy="457200"/>
          </a:xfrm>
          <a:prstGeom prst="roundRect">
            <a:avLst>
              <a:gd name="adj" fmla="val 16000"/>
            </a:avLst>
          </a:prstGeom>
          <a:solidFill>
            <a:srgbClr val="DCE5D6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16952" y="3611880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577840" y="4343400"/>
            <a:ext cx="6035040" cy="1005840"/>
          </a:xfrm>
          <a:prstGeom prst="roundRect">
            <a:avLst>
              <a:gd name="adj" fmla="val 7273"/>
            </a:avLst>
          </a:prstGeom>
          <a:solidFill>
            <a:srgbClr val="2B2724"/>
          </a:solidFill>
          <a:ln w="6350">
            <a:solidFill>
              <a:srgbClr val="2B272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15000" y="443484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Upload test results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uses: actions/upload-artifact@v4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with: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test-results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path: results/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577840" y="544068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Relacionar la evidencia con el workflow run y el commit permite saber qué ejecución produjo el resultado y sobre qué estado del código.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· RESILIENCIA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Diseñar asumiendo que habrá fallos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3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38404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falla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0" y="21031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59152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59152"/>
            <a:ext cx="38404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analiza el error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28800" y="286207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118104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118104"/>
            <a:ext cx="38404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 la branch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828800" y="362102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77056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877056"/>
            <a:ext cx="38404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vuelve a ejecutarse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828800" y="437997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636008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F1D9CF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636008"/>
            <a:ext cx="38404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¿Vuelve a fallar?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828800" y="51389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394960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B5523B"/>
          </a:solidFill>
          <a:ln w="12700">
            <a:solidFill>
              <a:srgbClr val="B552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394960"/>
            <a:ext cx="38404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Escalación humana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63440" y="1600200"/>
            <a:ext cx="3383280" cy="2926080"/>
          </a:xfrm>
          <a:prstGeom prst="roundRect">
            <a:avLst>
              <a:gd name="adj" fmla="val 2500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737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arquitectura contempla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92040" y="224028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y límites de reintentos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Escalación humana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del fallo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229600" y="1600200"/>
            <a:ext cx="3383280" cy="2926080"/>
          </a:xfrm>
          <a:prstGeom prst="roundRect">
            <a:avLst>
              <a:gd name="adj" fmla="val 2500"/>
            </a:avLst>
          </a:prstGeom>
          <a:solidFill>
            <a:srgbClr val="DCE5D6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58200" y="1737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escalación muestra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58200" y="224028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falló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intentó el agente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evidencias existen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recomienda hacer después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663440" y="4754880"/>
            <a:ext cx="6949440" cy="1280160"/>
          </a:xfrm>
          <a:prstGeom prst="roundRect">
            <a:avLst>
              <a:gd name="adj" fmla="val 7143"/>
            </a:avLst>
          </a:prstGeom>
          <a:solidFill>
            <a:srgbClr val="2B2724"/>
          </a:solidFill>
          <a:ln w="12700">
            <a:solidFill>
              <a:srgbClr val="2B27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475488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E3A0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fallos van a ocurrir. </a:t>
            </a:r>
            <a:r>
              <a:rPr lang="en-US" sz="1800" i="1" dirty="0">
                <a:solidFill>
                  <a:srgbClr val="F6F0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reintentos acotados y la escalación humana evitan loops infinitos.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· CAPACIDADES Y MCP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agente recibe solo las capacidades que necesita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3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83080"/>
            <a:ext cx="640080" cy="640080"/>
          </a:xfrm>
          <a:prstGeom prst="ellipse">
            <a:avLst/>
          </a:prstGeom>
          <a:solidFill>
            <a:srgbClr val="F1D9CF"/>
          </a:solidFill>
          <a:ln w="12700">
            <a:solidFill>
              <a:srgbClr val="F1D9CF"/>
            </a:solidFill>
            <a:prstDash val="solid"/>
          </a:ln>
        </p:spPr>
      </p:sp>
      <p:pic>
        <p:nvPicPr>
          <p:cNvPr id="7" name="Image 0" descr="/agent/turn1/workspace/output/_anthropic_assets/icon-eye-346bfc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258" y="1927098"/>
            <a:ext cx="352044" cy="3520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7830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Planning Agent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77240" y="2606040"/>
            <a:ext cx="1463040" cy="320040"/>
          </a:xfrm>
          <a:prstGeom prst="roundRect">
            <a:avLst>
              <a:gd name="adj" fmla="val 48571"/>
            </a:avLst>
          </a:prstGeom>
          <a:solidFill>
            <a:srgbClr val="5F8363"/>
          </a:solidFill>
          <a:ln w="12700">
            <a:solidFill>
              <a:srgbClr val="5F836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2606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SOLO LECTURA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77240" y="310896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e investigar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plan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modifica el repositorio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297680" y="160020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26280" y="1783080"/>
            <a:ext cx="640080" cy="640080"/>
          </a:xfrm>
          <a:prstGeom prst="ellipse">
            <a:avLst/>
          </a:prstGeom>
          <a:solidFill>
            <a:srgbClr val="F1D9CF"/>
          </a:solidFill>
          <a:ln w="12700">
            <a:solidFill>
              <a:srgbClr val="F1D9CF"/>
            </a:solidFill>
            <a:prstDash val="solid"/>
          </a:ln>
        </p:spPr>
      </p:sp>
      <p:pic>
        <p:nvPicPr>
          <p:cNvPr id="14" name="Image 1" descr="/agent/turn1/workspace/output/_anthropic_assets/icon-bot-16600a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0298" y="1927098"/>
            <a:ext cx="352044" cy="3520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03520" y="17830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Agent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4526280" y="2606040"/>
            <a:ext cx="1463040" cy="320040"/>
          </a:xfrm>
          <a:prstGeom prst="roundRect">
            <a:avLst>
              <a:gd name="adj" fmla="val 48571"/>
            </a:avLst>
          </a:prstGeom>
          <a:solidFill>
            <a:srgbClr val="B5523B"/>
          </a:solidFill>
          <a:ln w="12700">
            <a:solidFill>
              <a:srgbClr val="B5523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526280" y="2606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 ESCRITURA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526280" y="310896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branches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Modificar archivos y crear commits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Pull Requests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8046720" y="160020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275320" y="1783080"/>
            <a:ext cx="640080" cy="640080"/>
          </a:xfrm>
          <a:prstGeom prst="ellipse">
            <a:avLst/>
          </a:prstGeom>
          <a:solidFill>
            <a:srgbClr val="F1D9CF"/>
          </a:solidFill>
          <a:ln w="12700">
            <a:solidFill>
              <a:srgbClr val="F1D9CF"/>
            </a:solidFill>
            <a:prstDash val="solid"/>
          </a:ln>
        </p:spPr>
      </p:sp>
      <p:pic>
        <p:nvPicPr>
          <p:cNvPr id="21" name="Image 2" descr="/agent/turn1/workspace/output/_anthropic_assets/icon-shield-checkmark-6e198a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9338" y="1927098"/>
            <a:ext cx="352044" cy="35204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052560" y="17830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Agent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8275320" y="2606040"/>
            <a:ext cx="1463040" cy="320040"/>
          </a:xfrm>
          <a:prstGeom prst="roundRect">
            <a:avLst>
              <a:gd name="adj" fmla="val 48571"/>
            </a:avLst>
          </a:prstGeom>
          <a:solidFill>
            <a:srgbClr val="5F8363"/>
          </a:solidFill>
          <a:ln w="12700">
            <a:solidFill>
              <a:srgbClr val="5F8363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275320" y="2606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SOLO LECTURA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8275320" y="310896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código y tests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resultados y políticas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mantiene read-only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548640" y="452628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F1D9CF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777240" y="46634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y el blast radius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3657600" y="4663440"/>
            <a:ext cx="1499616" cy="777240"/>
          </a:xfrm>
          <a:prstGeom prst="roundRect">
            <a:avLst>
              <a:gd name="adj" fmla="val 9412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3703320" y="4663440"/>
            <a:ext cx="1408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herramientas se habilitan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5248656" y="4663440"/>
            <a:ext cx="1499616" cy="777240"/>
          </a:xfrm>
          <a:prstGeom prst="roundRect">
            <a:avLst>
              <a:gd name="adj" fmla="val 9412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5294376" y="4663440"/>
            <a:ext cx="1408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operaciones permite cada una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6839712" y="4663440"/>
            <a:ext cx="1499616" cy="777240"/>
          </a:xfrm>
          <a:prstGeom prst="roundRect">
            <a:avLst>
              <a:gd name="adj" fmla="val 9412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885432" y="4663440"/>
            <a:ext cx="1408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autentican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8430768" y="4663440"/>
            <a:ext cx="1499616" cy="777240"/>
          </a:xfrm>
          <a:prstGeom prst="roundRect">
            <a:avLst>
              <a:gd name="adj" fmla="val 9412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8476488" y="4663440"/>
            <a:ext cx="1408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secretos usan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10021824" y="4663440"/>
            <a:ext cx="1499616" cy="777240"/>
          </a:xfrm>
          <a:prstGeom prst="roundRect">
            <a:avLst>
              <a:gd name="adj" fmla="val 9412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10067544" y="4663440"/>
            <a:ext cx="1408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agente puede usarlas</a:t>
            </a:r>
            <a:endParaRPr lang="en-US" sz="1100" dirty="0"/>
          </a:p>
        </p:txBody>
      </p:sp>
      <p:sp>
        <p:nvSpPr>
          <p:cNvPr id="38" name="Text 33"/>
          <p:cNvSpPr/>
          <p:nvPr/>
        </p:nvSpPr>
        <p:spPr>
          <a:xfrm>
            <a:off x="3657600" y="5532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Preferir listas explícitas de herramientas autorizadas. Ampliar MCP es un cambio sensible de gobernanza.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· GUARDRAILS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Hooks y least privilege como guardrails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3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371600" y="1600200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600200"/>
            <a:ext cx="38404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quiere ejecutar una acción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834640" y="2057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20240" y="233172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2B2724"/>
          </a:solidFill>
          <a:ln w="12700">
            <a:solidFill>
              <a:srgbClr val="2B27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2331720"/>
            <a:ext cx="2743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Pre-hook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834640" y="2788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45920" y="3063240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F1D9CF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0" y="3063240"/>
            <a:ext cx="32918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¿Acción permitida?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36118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↙ No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97680" y="36118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F83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Sí ↘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B5523B"/>
          </a:solidFill>
          <a:ln w="12700">
            <a:solidFill>
              <a:srgbClr val="B552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977640"/>
            <a:ext cx="23774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840480" y="397764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5F8363"/>
          </a:solidFill>
          <a:ln w="12700">
            <a:solidFill>
              <a:srgbClr val="5F83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0" y="3977640"/>
            <a:ext cx="23774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80560" y="4480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840480" y="475488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2B2724"/>
          </a:solidFill>
          <a:ln w="12700">
            <a:solidFill>
              <a:srgbClr val="2B27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4754880"/>
            <a:ext cx="23774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Post-hook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480560" y="5212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840480" y="548640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DCE5D6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0" y="5486400"/>
            <a:ext cx="23774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75120" y="1600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INDEPENDIENTES DEL RAZONAMIENTO DEL MODELO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75120" y="1965960"/>
            <a:ext cx="4937760" cy="822960"/>
          </a:xfrm>
          <a:prstGeom prst="roundRect">
            <a:avLst>
              <a:gd name="adj" fmla="val 8889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19659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Pre-action hooks 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Validan comandos, detectan patrones peligrosos y bloquean operaciones.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675120" y="2880360"/>
            <a:ext cx="4937760" cy="822960"/>
          </a:xfrm>
          <a:prstGeom prst="roundRect">
            <a:avLst>
              <a:gd name="adj" fmla="val 8889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0" y="28803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Post-action hooks 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Registran operaciones, generan auditoría y capturan resultados.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675120" y="3794760"/>
            <a:ext cx="4937760" cy="822960"/>
          </a:xfrm>
          <a:prstGeom prst="roundRect">
            <a:avLst>
              <a:gd name="adj" fmla="val 8889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0" y="37947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hooks 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Registran fallos, generan alertas e inician escalaciones.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675120" y="480060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2B2724"/>
          </a:solidFill>
          <a:ln w="6350">
            <a:solidFill>
              <a:srgbClr val="2B27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12280" y="489204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contents: read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pull-requests: write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464040" y="480060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 en Actions: leer el repositorio e interactuar con PRs, sin escritura innecesaria.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· ARQUITECTURA COMPLETA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Arquitectura de un sistema agéntico gobernado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3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· PLANIFICACIÓN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74520"/>
            <a:ext cx="19202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68880" y="1874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926080" y="187452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2B2724"/>
          </a:solidFill>
          <a:ln w="12700">
            <a:solidFill>
              <a:srgbClr val="2B27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1874520"/>
            <a:ext cx="19202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Agent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874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03520" y="187452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1874520"/>
            <a:ext cx="19202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223760" y="1874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80960" y="187452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B5523B"/>
          </a:solidFill>
          <a:ln w="12700">
            <a:solidFill>
              <a:srgbClr val="B552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0" y="1874520"/>
            <a:ext cx="19202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0" y="1874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058400" y="187452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2B2724"/>
          </a:solidFill>
          <a:ln w="12700">
            <a:solidFill>
              <a:srgbClr val="2B27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0" y="1874520"/>
            <a:ext cx="19202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Agent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2606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· EJECUCIÓN Y VALIDACIÓN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288036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880360"/>
            <a:ext cx="19202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468880" y="28803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926080" y="288036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0" y="2880360"/>
            <a:ext cx="19202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0" y="28803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303520" y="288036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0" y="2880360"/>
            <a:ext cx="19202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· Security · CODEOWNERS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223760" y="28803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80960" y="288036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0" y="2880360"/>
            <a:ext cx="19202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Checks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601200" y="28803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058400" y="288036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B5523B"/>
          </a:solidFill>
          <a:ln w="12700">
            <a:solidFill>
              <a:srgbClr val="B552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58400" y="2880360"/>
            <a:ext cx="19202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" y="3611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· ENTREGA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388620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3886200"/>
            <a:ext cx="19202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468880" y="38862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2926080" y="388620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26080" y="3886200"/>
            <a:ext cx="19202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Gate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846320" y="38862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303520" y="388620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5F8363"/>
          </a:solidFill>
          <a:ln w="12700">
            <a:solidFill>
              <a:srgbClr val="5F836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03520" y="3886200"/>
            <a:ext cx="19202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7680960" y="3886200"/>
            <a:ext cx="4297680" cy="548640"/>
          </a:xfrm>
          <a:prstGeom prst="roundRect">
            <a:avLst>
              <a:gd name="adj" fmla="val 13333"/>
            </a:avLst>
          </a:prstGeom>
          <a:solidFill>
            <a:srgbClr val="DCE5D6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80960" y="38862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2B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agente nunca decide solo el merge ni el despliegue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48640" y="475488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7240" y="4846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 del agente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77240" y="53035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permitidas, scope, MCP y least privilege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4297680" y="475488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DCE5D6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26280" y="4846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 del repositorio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4526280" y="53035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Branches, Pull Requests, CODEOWNERS, Rulesets y Branch Protection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8046720" y="475488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75320" y="4846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 de ejecución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275320" y="53035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Actions, Required Checks, Environments, Approvals, Hooks y Secrets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· PRINCIPIOS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Diez principios fundamentales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3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0020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60020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trabajar directamente sobre main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→ Pull Request → Validation → Merge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96312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DCE5D6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496312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2496312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 debe ser visible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Qué, por qué, qué archivos y cómo se mide el éxito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392424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392424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3392424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y Execution diferenciables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Especialmente en operaciones de alto riesgo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288536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DCE5D6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288536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25880" y="4288536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Instrucciones ≠ controles técnicos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 modificar producción” no impide hacerlo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184648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84648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518464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éxito verificables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 · Security PASS · Review APPROVED · Scope VALID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72200" y="160020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160020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49440" y="160020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evidencia debe quedar registrada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→ Plan → Commit → Workflow Run → Evidence → Review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72200" y="2496312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DCE5D6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2496312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949440" y="2496312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autonomía depende del riesgo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riesgo, más autonomía; mayor riesgo, más control humano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72200" y="3392424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3392424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949440" y="3392424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Asumir que habrá fallos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limitados, escalación, rollback, logs y artifacts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172200" y="4288536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DCE5D6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4288536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949440" y="4288536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Least Privilege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agente, workflow y herramienta, con permisos mínimos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172200" y="5184648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FFFBF2"/>
          </a:solidFill>
          <a:ln w="12700">
            <a:solidFill>
              <a:srgbClr val="D9CFB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5184648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55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949440" y="518464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dentro de límites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Observables, verificables y gobernados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B2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3A0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6309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6F0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Diseñar agentes confiables es construir una arquitectura donde la autonomía está rodeada de controles.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361188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9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aporta los componentes: Pull Requests, Actions, Required Checks, Rulesets, Branch Protection, CODEOWNERS, Environments, Secrets, Artifacts, Hooks y control de herramientas.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84632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E3A0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“Un sistema agéntico confiable permite autonomía dentro de límites explícitos, verificables y auditables.”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138160" y="731520"/>
            <a:ext cx="3474720" cy="457200"/>
          </a:xfrm>
          <a:prstGeom prst="roundRect">
            <a:avLst>
              <a:gd name="adj" fmla="val 16000"/>
            </a:avLst>
          </a:prstGeom>
          <a:solidFill>
            <a:srgbClr val="3A3531"/>
          </a:solidFill>
          <a:ln w="12700">
            <a:solidFill>
              <a:srgbClr val="5A52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75320" y="731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A0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78240" y="731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38160" y="1335024"/>
            <a:ext cx="3474720" cy="457200"/>
          </a:xfrm>
          <a:prstGeom prst="roundRect">
            <a:avLst>
              <a:gd name="adj" fmla="val 16000"/>
            </a:avLst>
          </a:prstGeom>
          <a:solidFill>
            <a:srgbClr val="3A3531"/>
          </a:solidFill>
          <a:ln w="12700">
            <a:solidFill>
              <a:srgbClr val="5A52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75320" y="1335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A0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778240" y="133502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38160" y="1938528"/>
            <a:ext cx="3474720" cy="457200"/>
          </a:xfrm>
          <a:prstGeom prst="roundRect">
            <a:avLst>
              <a:gd name="adj" fmla="val 16000"/>
            </a:avLst>
          </a:prstGeom>
          <a:solidFill>
            <a:srgbClr val="3A3531"/>
          </a:solidFill>
          <a:ln w="12700">
            <a:solidFill>
              <a:srgbClr val="5A52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A0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778240" y="1938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controlada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38160" y="2542032"/>
            <a:ext cx="3474720" cy="457200"/>
          </a:xfrm>
          <a:prstGeom prst="roundRect">
            <a:avLst>
              <a:gd name="adj" fmla="val 16000"/>
            </a:avLst>
          </a:prstGeom>
          <a:solidFill>
            <a:srgbClr val="3A3531"/>
          </a:solidFill>
          <a:ln w="12700">
            <a:solidFill>
              <a:srgbClr val="5A52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A0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78240" y="25420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38160" y="3145536"/>
            <a:ext cx="3474720" cy="457200"/>
          </a:xfrm>
          <a:prstGeom prst="roundRect">
            <a:avLst>
              <a:gd name="adj" fmla="val 16000"/>
            </a:avLst>
          </a:prstGeom>
          <a:solidFill>
            <a:srgbClr val="3A3531"/>
          </a:solidFill>
          <a:ln w="12700">
            <a:solidFill>
              <a:srgbClr val="5A52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7532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A0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778240" y="314553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automática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138160" y="3749040"/>
            <a:ext cx="3474720" cy="457200"/>
          </a:xfrm>
          <a:prstGeom prst="roundRect">
            <a:avLst>
              <a:gd name="adj" fmla="val 16000"/>
            </a:avLst>
          </a:prstGeom>
          <a:solidFill>
            <a:srgbClr val="3A3531"/>
          </a:solidFill>
          <a:ln w="12700">
            <a:solidFill>
              <a:srgbClr val="5A52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7532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A0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778240" y="3749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humana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138160" y="4352544"/>
            <a:ext cx="3474720" cy="457200"/>
          </a:xfrm>
          <a:prstGeom prst="roundRect">
            <a:avLst>
              <a:gd name="adj" fmla="val 16000"/>
            </a:avLst>
          </a:prstGeom>
          <a:solidFill>
            <a:srgbClr val="3A3531"/>
          </a:solidFill>
          <a:ln w="12700">
            <a:solidFill>
              <a:srgbClr val="5A52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75320" y="4352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A0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778240" y="435254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138160" y="4956048"/>
            <a:ext cx="3474720" cy="457200"/>
          </a:xfrm>
          <a:prstGeom prst="roundRect">
            <a:avLst>
              <a:gd name="adj" fmla="val 16000"/>
            </a:avLst>
          </a:prstGeom>
          <a:solidFill>
            <a:srgbClr val="3A3531"/>
          </a:solidFill>
          <a:ln w="12700">
            <a:solidFill>
              <a:srgbClr val="5A524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5320" y="4956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A0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778240" y="49560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138160" y="5559552"/>
            <a:ext cx="3474720" cy="457200"/>
          </a:xfrm>
          <a:prstGeom prst="roundRect">
            <a:avLst>
              <a:gd name="adj" fmla="val 16000"/>
            </a:avLst>
          </a:prstGeom>
          <a:solidFill>
            <a:srgbClr val="5F8363"/>
          </a:solidFill>
          <a:ln w="12700">
            <a:solidFill>
              <a:srgbClr val="5F836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75320" y="5559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778240" y="55595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/ Deployment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22</Slides>
  <Notes>22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</cp:revision>
  <dcterms:created xsi:type="dcterms:W3CDTF">2012-07-30T22:48:03Z</dcterms:created>
  <dcterms:modified xsi:type="dcterms:W3CDTF">2026-10-28T19:45:28Z</dcterms:modified>
</cp:coreProperties>
</file>