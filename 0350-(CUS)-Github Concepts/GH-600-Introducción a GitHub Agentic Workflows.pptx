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3F5BE0-8CD5-C208-ECAF-977B652500B0}" v="29" dt="2026-10-28T19:30:18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AED91-EF6D-481E-B011-293022046BBA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C6679-7AD8-4CF2-A083-A6DC6F788B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E8741E"/>
                </a:solidFill>
                <a:latin typeface="Calibri"/>
                <a:ea typeface="Calibri"/>
                <a:cs typeface="Calibri"/>
              </a:rPr>
              <a:t>\GITHUB AGENTIC WORKFLOWS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200" b="1" dirty="0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Conceptos</a:t>
            </a:r>
            <a:r>
              <a:rPr lang="en-US" sz="4200" b="1" dirty="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Preliminares</a:t>
            </a:r>
            <a:endParaRPr lang="en-US" sz="4200" dirty="0" err="1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Codespaces a un Issue creado por un agente de IA, paso a paso con gh-aw.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7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github.github.com/gh-aw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371600"/>
            <a:ext cx="3931920" cy="3931920"/>
          </a:xfrm>
          <a:prstGeom prst="ellipse">
            <a:avLst/>
          </a:prstGeom>
          <a:solidFill>
            <a:srgbClr val="24467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2011680"/>
            <a:ext cx="2651760" cy="265176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8" name="Image 0" descr="/agent/turn1/workspace/output/_anthropic_assets/icon-bot-455e3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606040"/>
            <a:ext cx="1463040" cy="1463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0" y="914400"/>
            <a:ext cx="914400" cy="91440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10" name="Image 1" descr="/agent/turn1/workspace/output/_anthropic_assets/icon-laptop-eec154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133856"/>
            <a:ext cx="475488" cy="47548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81360" y="3017520"/>
            <a:ext cx="914400" cy="91440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12" name="Image 2" descr="/agent/turn1/workspace/output/_anthropic_assets/icon-key-1caaf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0816" y="3236976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55280" y="5029200"/>
            <a:ext cx="914400" cy="91440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14" name="Image 3" descr="/agent/turn1/workspace/output/_anthropic_assets/icon-shield-checkmark-b8a69b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524865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Trece conceptos, cuatro etapas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96896" cy="443484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59736" y="1783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7" name="Image 0" descr="/agent/turn1/workspace/output/_anthropic_assets/icon-laptop-eec154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0958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3464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Entorno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21396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CLI (gh)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Agentic Workflows (gh-aw)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80537" y="1691640"/>
            <a:ext cx="2596896" cy="443484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91633" y="1783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609137" y="192024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3" name="Image 1" descr="/agent/turn1/workspace/output/_anthropic_assets/icon-key-1caaf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702" y="209580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9137" y="283464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Credenciales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09137" y="3383280"/>
            <a:ext cx="21396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Personal Access Token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Secrets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12434" y="1691640"/>
            <a:ext cx="2596896" cy="443484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23530" y="1783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441034" y="192024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9" name="Image 2" descr="/agent/turn1/workspace/output/_anthropic_assets/icon-document-5a9d29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598" y="209580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1034" y="283464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Archivos del agente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441034" y="3383280"/>
            <a:ext cx="21396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.github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(.md) y Frontmatter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Compilación y .lock.yml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9044330" y="1691640"/>
            <a:ext cx="2596896" cy="443484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955426" y="1783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272930" y="192024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5" name="Image 3" descr="/agent/turn1/workspace/output/_anthropic_assets/icon-play-6df80b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495" y="2095805"/>
            <a:ext cx="380390" cy="3803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72930" y="283464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Ejecución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272930" y="3383280"/>
            <a:ext cx="21396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(workflow_dispatch)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Outputs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 · ENTORNO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Codespaces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5" name="Image 0" descr="/agent/turn1/workspace/output/_anthropic_assets/icon-laptop-eec154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733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un Codespace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3040" y="20391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entorno de desarrollo completo en la nube, listo para usar.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96896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9" name="Image 1" descr="/agent/turn1/workspace/output/_anthropic_assets/icon-play-6df80b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61488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7860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crea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463040" y="29443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repositorio: Code → Codespaces → Create codespace.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502152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3" name="Image 2" descr="/agent/turn1/workspace/output/_anthropic_assets/icon-code-6b9a9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666744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4838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en el navegador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463040" y="384962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editor, sin instalar nada en tu máquina.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407408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7" name="Image 3" descr="/agent/turn1/workspace/output/_anthropic_assets/icon-window-console-d1825b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572000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389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 integrada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463040" y="4754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Acá ejecutamos gh y gh aw durante todo el laboratorio.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5312664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1" name="Image 4" descr="/agent/turn1/workspace/output/_anthropic_assets/icon-folder-06245f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477256"/>
            <a:ext cx="356616" cy="3566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29437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Relación con el repositorio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463040" y="566013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Codespace se crea a partir del repo y trabaja sobre su contenido.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7589520" y="1691640"/>
            <a:ext cx="4050792" cy="4343400"/>
          </a:xfrm>
          <a:prstGeom prst="roundRect">
            <a:avLst>
              <a:gd name="adj" fmla="val 3386"/>
            </a:avLst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86384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863840" y="2286000"/>
            <a:ext cx="350215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863840" y="2286000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mi-repositorio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863840" y="31089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se abre en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863840" y="3566160"/>
            <a:ext cx="3502152" cy="2194560"/>
          </a:xfrm>
          <a:prstGeom prst="roundRect">
            <a:avLst>
              <a:gd name="adj" fmla="val 4167"/>
            </a:avLst>
          </a:prstGeom>
          <a:solidFill>
            <a:srgbClr val="24467A"/>
          </a:solidFill>
          <a:ln w="25400">
            <a:solidFill>
              <a:srgbClr val="E8741E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092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09244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(navegador)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8092440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integrada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2 · ENTORNO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CLI (gh)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 oficial para interactuar con GitHub desde la terminal. En el laboratorio usamos tres comandos: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17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--version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instalación de GitHub CLI.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4256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608576" y="301752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3017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status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estado de autenticación.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19872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394192" y="301752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3017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extension install github/gh-aw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94192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gh-aw con el administrador de extensiones de gh.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44068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2" name="Image 0" descr="/agent/turn1/workspace/output/_anthropic_assets/icon-bot-455e3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605272"/>
            <a:ext cx="356616" cy="35661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91640" y="53492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gh-aw no es una herramienta aparte: es una extensión de GitHub CLI.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3 · ENTORNO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Agentic Workflows (gh-aw)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6" name="Image 0" descr="/agent/turn1/workspace/output/_anthropic_assets/icon-bot-455e3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GitHub CLI que define y ejecuta workflows basados en agentes dentro de GitHub Actions.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en Markdown.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usar motores de IA como GitHub Copilot.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0" y="1645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USADOS EN EL LABORATORIO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2011680"/>
            <a:ext cx="5696712" cy="548640"/>
          </a:xfrm>
          <a:prstGeom prst="roundRect">
            <a:avLst>
              <a:gd name="adj" fmla="val 16667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01168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version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2633472"/>
            <a:ext cx="5696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la versión instalada.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0" y="3108960"/>
            <a:ext cx="5696712" cy="548640"/>
          </a:xfrm>
          <a:prstGeom prst="roundRect">
            <a:avLst>
              <a:gd name="adj" fmla="val 16667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310896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compile .github/workflows/hello-agent.md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43600" y="3730752"/>
            <a:ext cx="5696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la definición Markdown y genera el .lock.yml ejecutable por GitHub Actions.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645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También existen (no los usamos hoy)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50749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init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971800" y="50749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7180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new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120640" y="50749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add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269480" y="50749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6948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add-wizard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418320" y="50749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1832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list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22960" y="5605272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5605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run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971800" y="5605272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71800" y="5605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status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120640" y="5605272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0" y="5605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logs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269480" y="5605272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69480" y="5605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doctor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32688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 github.github.com/gh-aw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4 · CREDENCIALES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Fine-grained Personal Access Token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6" name="Image 0" descr="/agent/turn1/workspace/output/_anthropic_assets/icon-key-1caaf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1634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Token: una credencial para autenticarse en GitHub.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08576" y="1965960"/>
            <a:ext cx="822960" cy="82296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1" name="Image 1" descr="/agent/turn1/workspace/output/_anthropic_assets/icon-shield-checkmark-b8a69b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21634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Fine-grained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08576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restringir con mucha más precisión qué permisos tiene el token.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1965960"/>
            <a:ext cx="822960" cy="82296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16" name="Image 2" descr="/agent/turn1/workspace/output/_anthropic_assets/icon-bot-455e3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702" y="21634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COPILOT_GITHUB_TOKEN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94192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secreto que usamos para que el Agentic Workflow se autentique contra GitHub Copilot.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8680" y="5212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la autenticación del agente, no solamente el uso de un PAT en general.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5 · CREDENCIALES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Secrets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de repositorio, creamos el secreto en: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→ Secrets and variables → Actions → COPILOT_GITHUB_TOKEN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3756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9" name="Image 0" descr="/agent/turn1/workspace/output/_anthropic_assets/icon-key-1caaf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351312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3337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PAT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4251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credencial.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11880" y="384048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4562856" y="310896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37176" y="3337560"/>
            <a:ext cx="731520" cy="73152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15" name="Image 1" descr="/agent/turn1/workspace/output/_anthropic_assets/icon-lock-closed-ee557d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3513125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51576" y="3337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Secret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837176" y="4251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lugar donde guardamos esa credencial de forma segura.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626096" y="384048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8577072" y="310896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851392" y="333756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1" name="Image 2" descr="/agent/turn1/workspace/output/_anthropic_assets/icon-play-6df80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6957" y="351312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765792" y="3337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851392" y="4251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quien la utiliza al ejecutar el workflow.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remarcar en clase: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 es la credencial; el Secret es dónde se almacena.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6 · ARCHIVOS DEL AGENTE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carpeta .github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4343400"/>
          </a:xfrm>
          <a:prstGeom prst="roundRect">
            <a:avLst>
              <a:gd name="adj" fmla="val 3158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87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87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workflows/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hello-agent.md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hello-agent.lock.yml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92240" y="1691640"/>
            <a:ext cx="51480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01168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8" name="Image 0" descr="/agent/turn1/workspace/output/_anthropic_assets/icon-folder-06245f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17627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35240" y="1801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35240" y="21945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especial que GitHub usa para distintos archivos de configuración del repositorio.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3200400"/>
            <a:ext cx="51480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20840" y="352044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3" name="Image 1" descr="/agent/turn1/workspace/output/_anthropic_assets/icon-clipboard-task-8e2a5b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36850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3310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workflows/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35240" y="3703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donde GitHub espera encontrar las definiciones de workflows.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92240" y="4709160"/>
            <a:ext cx="51480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20840" y="502920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8" name="Image 2" descr="/agent/turn1/workspace/output/_anthropic_assets/icon-document-5a9d29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519379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35240" y="48188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Nuestros dos archivos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635240" y="52120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hello-agent.md (la fuente) y hello-agent.lock.yml (el workflow generado).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7 · ARCHIVOS DEL AGENTE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Workflow Markdown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hello-agent.md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Frontmatter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el workflow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432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Instrucciones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lenguaje natural, para el agente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173736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6" name="Image 0" descr="/agent/turn1/workspace/output/_anthropic_assets/icon-document-5a9d29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1912925"/>
            <a:ext cx="380390" cy="38039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06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el archivo fuente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406640" y="2103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definición del Agentic Workflow: el Markdown es lo que se mantiene y se edita.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324612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0" name="Image 1" descr="/agent/turn1/workspace/output/_anthropic_assets/icon-code-6b9a9e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3421685"/>
            <a:ext cx="380390" cy="38039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3154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frontmatter configura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7406640" y="3611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trigger, permisos y salidas del workflow.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400800" y="475488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4" name="Image 2" descr="/agent/turn1/workspace/output/_anthropic_assets/icon-bot-455e3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4930445"/>
            <a:ext cx="380390" cy="38039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406640" y="4663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cuerpo le habla al agente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7406640" y="5120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instrucciones que el agente va a seguir, escritas en lenguaje natural.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8 · ARCHIVOS DEL AGENTE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3061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hello-agent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7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7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workflow_dispatch: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7F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safe-outputs: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7F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create-issue: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42239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46520" y="1801368"/>
            <a:ext cx="694944" cy="694944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agent/turn1/workspace/output/_anthropic_assets/icon-document-5a9d29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07" y="1968155"/>
            <a:ext cx="361371" cy="36137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Nombre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cómo se llama el workflow.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788920"/>
            <a:ext cx="542239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46520" y="2944368"/>
            <a:ext cx="694944" cy="694944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play-6df80b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307" y="3111155"/>
            <a:ext cx="361371" cy="36137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360920" y="3264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cuándo se inicia la ejecución.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17920" y="3931920"/>
            <a:ext cx="542239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46520" y="4087368"/>
            <a:ext cx="694944" cy="694944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/agent/turn1/workspace/output/_anthropic_assets/icon-lock-closed-ee557d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307" y="4254155"/>
            <a:ext cx="361371" cy="36137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6092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Permisos y capacidades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7360920" y="4407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hacer el agente.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17920" y="5074920"/>
            <a:ext cx="542239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46520" y="5230368"/>
            <a:ext cx="694944" cy="694944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/agent/turn1/workspace/output/_anthropic_assets/icon-shield-checkmark-b8a69b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307" y="5397155"/>
            <a:ext cx="361371" cy="36137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Outputs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360920" y="5550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safe-outputs: las salidas controladas que declaramos.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60807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frontmatter vienen las instrucciones en lenguaje natural.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9 · EJECUCIÓN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Triggers: workflow_dispatch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E87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E87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822960" cy="82296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7" name="Image 0" descr="/agent/turn1/workspace/output/_anthropic_assets/icon-play-6df80b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80939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3931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workflow puede iniciarse manualmente.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4846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trigger define cuándo se ejecuta el workflow. Es una buena primera introducción, sin sumar otros eventos todavía.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75120" y="1691640"/>
            <a:ext cx="4965192" cy="4343400"/>
          </a:xfrm>
          <a:prstGeom prst="roundRect">
            <a:avLst>
              <a:gd name="adj" fmla="val 3158"/>
            </a:avLst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PARA MÁS ADELANTE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95160" y="2468880"/>
            <a:ext cx="4325112" cy="685800"/>
          </a:xfrm>
          <a:prstGeom prst="roundRect">
            <a:avLst>
              <a:gd name="adj" fmla="val 13333"/>
            </a:avLst>
          </a:prstGeom>
          <a:solidFill>
            <a:srgbClr val="24467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95160" y="246888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995160" y="3383280"/>
            <a:ext cx="4325112" cy="685800"/>
          </a:xfrm>
          <a:prstGeom prst="roundRect">
            <a:avLst>
              <a:gd name="adj" fmla="val 13333"/>
            </a:avLst>
          </a:prstGeom>
          <a:solidFill>
            <a:srgbClr val="24467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338328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995160" y="4297680"/>
            <a:ext cx="4325112" cy="685800"/>
          </a:xfrm>
          <a:prstGeom prst="roundRect">
            <a:avLst>
              <a:gd name="adj" fmla="val 13333"/>
            </a:avLst>
          </a:prstGeom>
          <a:solidFill>
            <a:srgbClr val="24467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95160" y="429768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pull_request: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95160" y="525780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usamos solamente uno.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10 · ARCHIVOS DEL AGENTE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Compilación: del .md al .lock.yml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hello-agent.md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44568" y="173736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4568" y="1737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compile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40496" y="173736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77656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hello-agent.lock.yml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1737360"/>
            <a:ext cx="886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653528" y="1737360"/>
            <a:ext cx="886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3095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83280"/>
            <a:ext cx="822960" cy="82296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4" name="Image 0" descr="/agent/turn1/workspace/output/_anthropic_assets/icon-document-5a9d29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3580790"/>
            <a:ext cx="427939" cy="42793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920240" y="3337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= fuente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920240" y="3840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del Agentic Workflow: lo que escribimos y editamos.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09360" y="3108960"/>
            <a:ext cx="533095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3383280"/>
            <a:ext cx="822960" cy="82296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9" name="Image 1" descr="/agent/turn1/workspace/output/_anthropic_assets/icon-clipboard-task-8e2a5b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190" y="3580790"/>
            <a:ext cx="427939" cy="4279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80960" y="3337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.lock.yml = generado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680960" y="3840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workflow completo de GitHub Actions que se produce al compilar.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importante: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instrucciones Markdown se cargan en runtime; la compilación construye la configuración ejecutable del workflow.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11 · EJECUCIÓN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donde el alumno descubre cómo se ejecuta el agente. Recorrido en el laboratorio: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8" name="Image 0" descr="/agent/turn1/workspace/output/_anthropic_assets/icon-clipboard-task-8e2a5b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49631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Pestaña Actions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703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Vemos los workflows del repositorio.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18638" y="2148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9023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001518" y="233172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4" name="Image 1" descr="/agent/turn1/workspace/output/_anthropic_assets/icon-document-5a9d29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110" y="249631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01518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001518" y="3703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hello-agent.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88636" y="2148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6023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5271516" y="2331720"/>
            <a:ext cx="685800" cy="68580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20" name="Image 2" descr="/agent/turn1/workspace/output/_anthropic_assets/icon-play-6df80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108" y="249631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71516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workflow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271516" y="3703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iniciá el trigger workflow_dispatch.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358634" y="2148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73023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7541514" y="233172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6" name="Image 3" descr="/agent/turn1/workspace/output/_anthropic_assets/icon-flash-89aedb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6106" y="2496312"/>
            <a:ext cx="356616" cy="35661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1514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Ejecución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541514" y="3703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corre en GitHub Actions.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628632" y="2148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100023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7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9811512" y="2331720"/>
            <a:ext cx="685800" cy="68580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32" name="Image 4" descr="/agent/turn1/workspace/output/_anthropic_assets/icon-code-6b9a9e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6104" y="2496312"/>
            <a:ext cx="356616" cy="35661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11512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 y estado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9811512" y="3703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Revisamos qué pasó y cómo terminó.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68680" y="52578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Conceptualmente: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es la infraestructura donde se ejecuta el Agentic Workflow.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12 · EJECUCIÓN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Outputs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7F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safe-outputs: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7F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create-issue: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"el agente puede hacer cualquier cosa".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Declaramos una salida controlada: el agente solo puede producir lo que el workflow permite.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1691640"/>
            <a:ext cx="4690872" cy="868680"/>
          </a:xfrm>
          <a:prstGeom prst="roundRect">
            <a:avLst>
              <a:gd name="adj" fmla="val 12632"/>
            </a:avLst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91640"/>
            <a:ext cx="4690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49440" y="256032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949440" y="3063240"/>
            <a:ext cx="4690872" cy="868680"/>
          </a:xfrm>
          <a:prstGeom prst="roundRect">
            <a:avLst>
              <a:gd name="adj" fmla="val 12632"/>
            </a:avLst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063240"/>
            <a:ext cx="4690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Output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49440" y="393192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949440" y="4434840"/>
            <a:ext cx="4690872" cy="868680"/>
          </a:xfrm>
          <a:prstGeom prst="roundRect">
            <a:avLst>
              <a:gd name="adj" fmla="val 12632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4434840"/>
            <a:ext cx="4690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Issue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504688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77840"/>
            <a:ext cx="676656" cy="676656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8" name="Image 0" descr="/agent/turn1/workspace/output/_anthropic_assets/icon-shield-checkmark-b8a69b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37" y="5630509"/>
            <a:ext cx="351861" cy="35186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550468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Agentic Workflows enfatiza guardrails, permisos y revisión de los resultados que producen los agentes.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13 · EJECUCIÓN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Issues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un Issue como resultado observable del agente: el alumno ve de inmediato qué produjo.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1460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7" name="Image 0" descr="/agent/turn1/workspace/output/_anthropic_assets/icon-bot-455e3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26901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del agente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instrucciones del archivo .md.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68880" y="3291840"/>
            <a:ext cx="372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841498" y="228600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24378" y="251460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3" name="Image 1" descr="/agent/turn1/workspace/output/_anthropic_assets/icon-document-5a9d29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943" y="26901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24378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 README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024378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consulta el contenido del repositorio.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761738" y="3291840"/>
            <a:ext cx="372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5134356" y="228600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17236" y="251460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9" name="Image 2" descr="/agent/turn1/workspace/output/_anthropic_assets/icon-flash-89aedb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801" y="269016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17236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Razona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5317236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motor de IA, GitHub Copilot.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054596" y="3291840"/>
            <a:ext cx="372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7427214" y="228600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610094" y="2514600"/>
            <a:ext cx="731520" cy="73152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5" name="Image 3" descr="/agent/turn1/workspace/output/_anthropic_assets/icon-shield-checkmark-b8a69b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5659" y="2690165"/>
            <a:ext cx="380390" cy="3803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10094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Output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610094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controlada: create-issue.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347454" y="3291840"/>
            <a:ext cx="372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3"/>
          <p:cNvSpPr/>
          <p:nvPr/>
        </p:nvSpPr>
        <p:spPr>
          <a:xfrm>
            <a:off x="9720072" y="228600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902952" y="2514600"/>
            <a:ext cx="731520" cy="73152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31" name="Image 4" descr="/agent/turn1/workspace/output/_anthropic_assets/icon-clipboard-task-8e2a5b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8517" y="2690165"/>
            <a:ext cx="380390" cy="38039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902952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Issue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9902952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visible en el repositorio.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Didácticamente: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recorrido del agente termina en algo que se puede abrir y leer.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gh-aw · Conceptos clave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conceptos que convierten el laboratorio en uno de Agentic Workflows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596896" cy="2926080"/>
          </a:xfrm>
          <a:prstGeom prst="roundRect">
            <a:avLst>
              <a:gd name="adj" fmla="val 4225"/>
            </a:avLst>
          </a:prstGeom>
          <a:solidFill>
            <a:srgbClr val="24467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80360"/>
            <a:ext cx="777240" cy="77724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6" name="Image 0" descr="/agent/turn1/workspace/output/_anthropic_assets/icon-document-5a9d29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30668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8404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Frontmatter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43434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el workflow: nombre, trigger, permisos y salidas.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0537" y="2651760"/>
            <a:ext cx="2596896" cy="2926080"/>
          </a:xfrm>
          <a:prstGeom prst="roundRect">
            <a:avLst>
              <a:gd name="adj" fmla="val 4225"/>
            </a:avLst>
          </a:prstGeom>
          <a:solidFill>
            <a:srgbClr val="24467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9137" y="2880360"/>
            <a:ext cx="777240" cy="77724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11" name="Image 1" descr="/agent/turn1/workspace/output/_anthropic_assets/icon-play-6df80b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674" y="30668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9137" y="38404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09137" y="43434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workflow_dispatch: cuándo y cómo se inicia la ejecución.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12434" y="2651760"/>
            <a:ext cx="2596896" cy="2926080"/>
          </a:xfrm>
          <a:prstGeom prst="roundRect">
            <a:avLst>
              <a:gd name="adj" fmla="val 4225"/>
            </a:avLst>
          </a:prstGeom>
          <a:solidFill>
            <a:srgbClr val="24467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41034" y="2880360"/>
            <a:ext cx="777240" cy="77724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16" name="Image 2" descr="/agent/turn1/workspace/output/_anthropic_assets/icon-code-6b9a9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1" y="30668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1034" y="38404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Compilación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41034" y="43434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→ .lock.yml con gh aw compile.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044330" y="2651760"/>
            <a:ext cx="2596896" cy="2926080"/>
          </a:xfrm>
          <a:prstGeom prst="roundRect">
            <a:avLst>
              <a:gd name="adj" fmla="val 4225"/>
            </a:avLst>
          </a:prstGeom>
          <a:solidFill>
            <a:srgbClr val="24467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72930" y="2880360"/>
            <a:ext cx="777240" cy="77724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pic>
        <p:nvPicPr>
          <p:cNvPr id="21" name="Image 3" descr="/agent/turn1/workspace/output/_anthropic_assets/icon-shield-checkmark-b8a69b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468" y="306689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930" y="38404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Outputs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272930" y="43434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controladas: el agente actúa dentro de guardrails.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7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Documentación: github.github.com/gh-aw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2012-07-30T22:48:03Z</dcterms:created>
  <dcterms:modified xsi:type="dcterms:W3CDTF">2026-10-28T21:02:35Z</dcterms:modified>
</cp:coreProperties>
</file>